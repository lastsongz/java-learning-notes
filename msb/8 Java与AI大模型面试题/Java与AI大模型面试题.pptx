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94" r:id="rId5"/>
    <p:sldId id="401" r:id="rId6"/>
    <p:sldId id="400" r:id="rId7"/>
  </p:sldIdLst>
  <p:sldSz cx="9144000" cy="5143500"/>
  <p:notesSz cx="5143500" cy="9144000"/>
  <p:custDataLst>
    <p:tags r:id="rId11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5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43988" y="122454"/>
            <a:ext cx="927824" cy="304693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>
            <a:off x="752558" y="541427"/>
            <a:ext cx="78175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322236" y="253569"/>
            <a:ext cx="388813" cy="178323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8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8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80"/>
            </a:p>
          </p:txBody>
        </p:sp>
      </p:grpSp>
      <p:sp>
        <p:nvSpPr>
          <p:cNvPr id="8" name="Rectangle 42"/>
          <p:cNvSpPr/>
          <p:nvPr userDrawn="1"/>
        </p:nvSpPr>
        <p:spPr>
          <a:xfrm>
            <a:off x="0" y="5061039"/>
            <a:ext cx="9144000" cy="8246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endParaRPr lang="zh-CN" altLang="zh-CN" sz="1170">
              <a:solidFill>
                <a:srgbClr val="FFFFFF"/>
              </a:solidFill>
              <a:latin typeface="Arial" panose="020B0604020202020204" pitchFamily="34" charset="0"/>
              <a:ea typeface="思源黑体 CN Normal" panose="020B0400000000000000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/>
          <a:lstStyle>
            <a:lvl1pPr algn="ctr">
              <a:defRPr sz="240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12" y="4767265"/>
            <a:ext cx="2133655" cy="273844"/>
          </a:xfrm>
        </p:spPr>
        <p:txBody>
          <a:bodyPr/>
          <a:lstStyle/>
          <a:p>
            <a:fld id="{F61BD0C8-D35A-439E-96FB-C8D4A64305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83" y="4767265"/>
            <a:ext cx="2895676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372" y="4767265"/>
            <a:ext cx="2133655" cy="273844"/>
          </a:xfrm>
        </p:spPr>
        <p:txBody>
          <a:bodyPr/>
          <a:lstStyle/>
          <a:p>
            <a:fld id="{670F15A6-E82C-4E1E-834E-C415C51F7DF3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3603" y="213927"/>
            <a:ext cx="1037501" cy="340638"/>
          </a:xfrm>
          <a:prstGeom prst="rect">
            <a:avLst/>
          </a:prstGeom>
        </p:spPr>
      </p:pic>
      <p:cxnSp>
        <p:nvCxnSpPr>
          <p:cNvPr id="10" name="直接连接符 9"/>
          <p:cNvCxnSpPr/>
          <p:nvPr userDrawn="1"/>
        </p:nvCxnSpPr>
        <p:spPr>
          <a:xfrm>
            <a:off x="305646" y="789061"/>
            <a:ext cx="879232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7"/>
          <p:cNvGrpSpPr/>
          <p:nvPr userDrawn="1"/>
        </p:nvGrpSpPr>
        <p:grpSpPr bwMode="auto">
          <a:xfrm>
            <a:off x="315892" y="376577"/>
            <a:ext cx="388813" cy="178323"/>
            <a:chOff x="0" y="0"/>
            <a:chExt cx="1041399" cy="549275"/>
          </a:xfrm>
        </p:grpSpPr>
        <p:sp>
          <p:nvSpPr>
            <p:cNvPr id="16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05"/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05"/>
            </a:p>
          </p:txBody>
        </p:sp>
        <p:sp>
          <p:nvSpPr>
            <p:cNvPr id="18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05"/>
            </a:p>
          </p:txBody>
        </p:sp>
      </p:grpSp>
      <p:sp>
        <p:nvSpPr>
          <p:cNvPr id="19" name="Rectangle 42"/>
          <p:cNvSpPr/>
          <p:nvPr userDrawn="1"/>
        </p:nvSpPr>
        <p:spPr>
          <a:xfrm>
            <a:off x="0" y="5061039"/>
            <a:ext cx="9144001" cy="8246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285" tIns="28642" rIns="57285" bIns="28642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endParaRPr lang="zh-CN" altLang="zh-CN" sz="1095">
              <a:solidFill>
                <a:srgbClr val="FFFFFF"/>
              </a:solidFill>
              <a:latin typeface="Arial" panose="020B0604020202020204" pitchFamily="34" charset="0"/>
              <a:ea typeface="思源黑体 CN Normal" panose="020B0400000000000000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2d55bbbf0a794d2daff265f2a2ef259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685" y="-2300"/>
            <a:ext cx="9144000" cy="4663887"/>
          </a:xfrm>
          <a:prstGeom prst="rect">
            <a:avLst/>
          </a:prstGeom>
        </p:spPr>
      </p:pic>
      <p:sp>
        <p:nvSpPr>
          <p:cNvPr id="4" name="Object3"/>
          <p:cNvSpPr/>
          <p:nvPr/>
        </p:nvSpPr>
        <p:spPr>
          <a:xfrm>
            <a:off x="1897380" y="2671019"/>
            <a:ext cx="53492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r"/>
            <a:r>
              <a:rPr 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</a:t>
            </a:r>
            <a:r>
              <a:rPr lang="zh-CN" alt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金三银四</a:t>
            </a:r>
            <a:r>
              <a:rPr 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面试突击班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2E9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2E9FFF"/>
            </a:solidFill>
            <a:prstDash val="solid"/>
          </a:ln>
        </p:spPr>
      </p:sp>
      <p:pic>
        <p:nvPicPr>
          <p:cNvPr id="7" name="Object 6" descr="https://fynotefile.oss-cn-zhangjiakou.aliyuncs.com/fynote/fyfile/392/1/8486aefb265a42c4adf6d8938809b6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680" y="-2300"/>
            <a:ext cx="2372320" cy="1829940"/>
          </a:xfrm>
          <a:prstGeom prst="rect">
            <a:avLst/>
          </a:prstGeom>
        </p:spPr>
      </p:pic>
      <p:pic>
        <p:nvPicPr>
          <p:cNvPr id="8" name="Object 7" descr="https://fynotefile.oss-cn-zhangjiakou.aliyuncs.com/fynote/fyfile/392/1/9942b3bd883144a4ba9eba285821ce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3426"/>
            <a:ext cx="1495032" cy="2480583"/>
          </a:xfrm>
          <a:prstGeom prst="rect">
            <a:avLst/>
          </a:prstGeom>
        </p:spPr>
      </p:pic>
      <p:pic>
        <p:nvPicPr>
          <p:cNvPr id="9" name="Object 8" descr="https://fynotefile.oss-cn-zhangjiakou.aliyuncs.com/fynote/fyfile/392/1/38ad7252fd0c4accabf65b2b6e4a09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442" y="2886332"/>
            <a:ext cx="266271" cy="266271"/>
          </a:xfrm>
          <a:prstGeom prst="rect">
            <a:avLst/>
          </a:prstGeom>
        </p:spPr>
      </p:pic>
      <p:sp>
        <p:nvSpPr>
          <p:cNvPr id="11" name="Object3"/>
          <p:cNvSpPr/>
          <p:nvPr/>
        </p:nvSpPr>
        <p:spPr>
          <a:xfrm>
            <a:off x="1590675" y="3873074"/>
            <a:ext cx="5349240" cy="512064"/>
          </a:xfrm>
          <a:prstGeom prst="rect">
            <a:avLst/>
          </a:prstGeom>
          <a:noFill/>
        </p:spPr>
        <p:txBody>
          <a:bodyPr wrap="square" rtlCol="0" anchor="ctr"/>
          <a:p>
            <a:pPr algn="r"/>
            <a:r>
              <a:rPr 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r>
              <a:rPr lang="zh-CN" alt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点正式开始！</a:t>
            </a:r>
            <a:endParaRPr lang="zh-CN" altLang="en-US" sz="18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Object3"/>
          <p:cNvSpPr/>
          <p:nvPr/>
        </p:nvSpPr>
        <p:spPr>
          <a:xfrm>
            <a:off x="681355" y="758190"/>
            <a:ext cx="7759065" cy="906780"/>
          </a:xfrm>
          <a:prstGeom prst="rect">
            <a:avLst/>
          </a:prstGeom>
          <a:noFill/>
        </p:spPr>
        <p:txBody>
          <a:bodyPr wrap="square" rtlCol="0" anchor="ctr"/>
          <a:p>
            <a:pPr>
              <a:lnSpc>
                <a:spcPct val="90000"/>
              </a:lnSpc>
            </a:pPr>
            <a:r>
              <a:rPr lang="en-US" altLang="zh-CN" sz="5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Java</a:t>
            </a:r>
            <a:r>
              <a:rPr lang="zh-CN" altLang="en-US" sz="5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</a:t>
            </a:r>
            <a:r>
              <a:rPr lang="en-US" altLang="zh-CN" sz="5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r>
              <a:rPr lang="zh-CN" altLang="en-US" sz="5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大模型面试题</a:t>
            </a:r>
            <a:endParaRPr lang="zh-CN" altLang="en-US" sz="5000" b="1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828415" y="1766570"/>
            <a:ext cx="1828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李瑾老师</a:t>
            </a:r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" y="117475"/>
            <a:ext cx="144780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01d9609cac084c43b9fbc9119b17a5f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157971" cy="3426310"/>
          </a:xfrm>
          <a:prstGeom prst="rect">
            <a:avLst/>
          </a:prstGeom>
        </p:spPr>
      </p:pic>
      <p:pic>
        <p:nvPicPr>
          <p:cNvPr id="3" name="Object 2" descr="https://fynotefile.oss-cn-zhangjiakou.aliyuncs.com/fynote/fyfile/392/1/e06acedcd6c44249943ef2119ff824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552" y="3426310"/>
            <a:ext cx="2656448" cy="1742336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文本框 9"/>
          <p:cNvSpPr txBox="1"/>
          <p:nvPr/>
        </p:nvSpPr>
        <p:spPr>
          <a:xfrm>
            <a:off x="471805" y="619125"/>
            <a:ext cx="8235315" cy="4091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60000"/>
              </a:lnSpc>
              <a:buNone/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1、你之前的项目做过模型的私有化部署吗？</a:t>
            </a:r>
            <a:endParaRPr lang="zh-CN" altLang="en-US" sz="20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2、SpringAI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与</a:t>
            </a: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SpringAI Alibaba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的区别</a:t>
            </a:r>
            <a:endParaRPr lang="zh-CN" altLang="en-US"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3、workflow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和</a:t>
            </a: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agent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最大的区别是什么？</a:t>
            </a:r>
            <a:endParaRPr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4、Agent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</a:t>
            </a: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React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机制(模式）是什么?</a:t>
            </a:r>
            <a:endParaRPr lang="zh-CN" altLang="en-US"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5、MCP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如何和</a:t>
            </a: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Agent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结合的?</a:t>
            </a:r>
            <a:endParaRPr lang="zh-CN" altLang="en-US"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6、多</a:t>
            </a: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Agent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相比单个</a:t>
            </a: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Agent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的优势在哪?</a:t>
            </a:r>
            <a:endParaRPr lang="zh-CN" altLang="en-US"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7、Agent Skills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和</a:t>
            </a: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Multi-Agent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有什么区别？</a:t>
            </a:r>
            <a:endParaRPr lang="zh-CN" altLang="en-US"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8、</a:t>
            </a:r>
            <a:r>
              <a:rPr 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什么是</a:t>
            </a:r>
            <a:r>
              <a:rPr lang="en-US" altLang="zh-CN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Harness</a:t>
            </a:r>
            <a:r>
              <a:rPr lang="zh-CN" altLang="en-US" sz="2000" dirty="0">
                <a:solidFill>
                  <a:srgbClr val="333333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？</a:t>
            </a:r>
            <a:endParaRPr lang="zh-CN" altLang="en-US"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indent="0">
              <a:lnSpc>
                <a:spcPct val="160000"/>
              </a:lnSpc>
              <a:buNone/>
            </a:pPr>
            <a:endParaRPr lang="zh-CN" altLang="en-US" sz="2000" dirty="0">
              <a:solidFill>
                <a:srgbClr val="333333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" y="39370"/>
            <a:ext cx="1447800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162" y="873813"/>
            <a:ext cx="5938038" cy="4212537"/>
          </a:xfrm>
          <a:prstGeom prst="rect">
            <a:avLst/>
          </a:prstGeom>
        </p:spPr>
      </p:pic>
      <p:sp>
        <p:nvSpPr>
          <p:cNvPr id="4" name="Object2"/>
          <p:cNvSpPr/>
          <p:nvPr/>
        </p:nvSpPr>
        <p:spPr>
          <a:xfrm>
            <a:off x="2791141" y="175130"/>
            <a:ext cx="4031016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fontAlgn="base"/>
            <a:r>
              <a:rPr lang="en-US" altLang="zh-CN" sz="3200" b="1">
                <a:solidFill>
                  <a:srgbClr val="FF0000"/>
                </a:solidFill>
              </a:rPr>
              <a:t>Multi-Agent</a:t>
            </a:r>
            <a:r>
              <a:rPr lang="zh-CN" altLang="en-US" sz="3200" b="1">
                <a:solidFill>
                  <a:srgbClr val="FF0000"/>
                </a:solidFill>
              </a:rPr>
              <a:t>是什么？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27" y="163765"/>
            <a:ext cx="1552792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2"/>
          <p:cNvSpPr/>
          <p:nvPr/>
        </p:nvSpPr>
        <p:spPr>
          <a:xfrm>
            <a:off x="2791141" y="175130"/>
            <a:ext cx="4031016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fontAlgn="base"/>
            <a:r>
              <a:rPr lang="en-US" altLang="zh-CN" sz="3200" b="1">
                <a:solidFill>
                  <a:srgbClr val="FF0000"/>
                </a:solidFill>
              </a:rPr>
              <a:t>Agent Skills</a:t>
            </a:r>
            <a:r>
              <a:rPr lang="zh-CN" altLang="en-US" sz="3200" b="1">
                <a:solidFill>
                  <a:srgbClr val="FF0000"/>
                </a:solidFill>
              </a:rPr>
              <a:t>来干什么？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4" name="Object3"/>
          <p:cNvSpPr/>
          <p:nvPr/>
        </p:nvSpPr>
        <p:spPr>
          <a:xfrm>
            <a:off x="1032106" y="3397380"/>
            <a:ext cx="7549088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lnSpc>
                <a:spcPct val="113000"/>
              </a:lnSpc>
            </a:pPr>
            <a:endParaRPr lang="en-US" sz="1500" dirty="0"/>
          </a:p>
          <a:p>
            <a:pPr>
              <a:lnSpc>
                <a:spcPct val="113000"/>
              </a:lnSpc>
            </a:pPr>
            <a:endParaRPr lang="en-US" sz="15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27" y="163765"/>
            <a:ext cx="1552792" cy="51442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32106" y="926985"/>
            <a:ext cx="728062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为了更好的理解，你可以把 </a:t>
            </a: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Skills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理解为</a:t>
            </a:r>
            <a:r>
              <a:rPr lang="zh-CN" altLang="en-US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“通用 </a:t>
            </a:r>
            <a:r>
              <a:rPr lang="en-US" altLang="zh-CN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 </a:t>
            </a:r>
            <a:r>
              <a:rPr lang="zh-CN" altLang="en-US" b="1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的扩展包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”：</a:t>
            </a:r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endParaRPr lang="zh-CN" altLang="en-US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Agent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可通过加载不同的 </a:t>
            </a:r>
            <a:r>
              <a:rPr lang="en-US" altLang="zh-CN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Skills </a:t>
            </a:r>
            <a:r>
              <a:rPr lang="zh-CN" altLang="en-US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包，来具备不同的专业知识、工具使用能力，稳定完成特定任务。。</a:t>
            </a:r>
            <a:endParaRPr lang="en-US" altLang="zh-CN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AutoShape 2" descr="Image #6"/>
          <p:cNvSpPr>
            <a:spLocks noChangeAspect="1" noChangeArrowheads="1"/>
          </p:cNvSpPr>
          <p:nvPr/>
        </p:nvSpPr>
        <p:spPr bwMode="auto">
          <a:xfrm>
            <a:off x="4457700" y="24574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350"/>
          </a:p>
        </p:txBody>
      </p:sp>
      <p:pic>
        <p:nvPicPr>
          <p:cNvPr id="9" name="图片 8" descr="图示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616" y="2042665"/>
            <a:ext cx="6258467" cy="30006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commondata" val="eyJoZGlkIjoiMWQzYzE3Njg5OWQxMWVjNWY2ZWE2MTQyMjJhNGZiYz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WPS 演示</Application>
  <PresentationFormat>On-screen Show (16:9)</PresentationFormat>
  <Paragraphs>28</Paragraphs>
  <Slides>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思源黑体 CN Normal</vt:lpstr>
      <vt:lpstr>微软雅黑</vt:lpstr>
      <vt:lpstr>微软雅黑</vt:lpstr>
      <vt:lpstr>仿宋</vt:lpstr>
      <vt:lpstr>Wingdings</vt:lpstr>
      <vt:lpstr>等线</vt:lpstr>
      <vt:lpstr>Arial Unicode MS</vt:lpstr>
      <vt:lpstr>微软雅黑 Light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李瑾</cp:lastModifiedBy>
  <cp:revision>197</cp:revision>
  <dcterms:created xsi:type="dcterms:W3CDTF">2023-08-08T13:17:00Z</dcterms:created>
  <dcterms:modified xsi:type="dcterms:W3CDTF">2026-04-21T11:41:09Z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198FF5DD21754C45ACF4F28C483F7B03_12</vt:lpwstr>
  </property>
  <property fmtid="{D5CDD505-2E9C-101B-9397-08002B2CF9AE}" pid="3" name="KSOProductBuildVer">
    <vt:lpwstr>2052-12.1.0.25865</vt:lpwstr>
  </property>
</Properties>
</file>