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3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94" r:id="rId5"/>
    <p:sldId id="375" r:id="rId6"/>
    <p:sldId id="374" r:id="rId7"/>
    <p:sldId id="344" r:id="rId8"/>
    <p:sldId id="376" r:id="rId9"/>
    <p:sldId id="378" r:id="rId10"/>
    <p:sldId id="379" r:id="rId11"/>
    <p:sldId id="380" r:id="rId12"/>
  </p:sldIdLst>
  <p:sldSz cx="9144000" cy="5143500"/>
  <p:notesSz cx="5143500" cy="9144000"/>
  <p:custDataLst>
    <p:tags r:id="rId16"/>
  </p:custData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gs" Target="tags/tag5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-481013" y="685800"/>
            <a:ext cx="6105526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logo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8043988" y="122454"/>
            <a:ext cx="927824" cy="304693"/>
          </a:xfrm>
          <a:prstGeom prst="rect">
            <a:avLst/>
          </a:prstGeom>
        </p:spPr>
      </p:pic>
      <p:cxnSp>
        <p:nvCxnSpPr>
          <p:cNvPr id="3" name="直接连接符 2"/>
          <p:cNvCxnSpPr/>
          <p:nvPr userDrawn="1"/>
        </p:nvCxnSpPr>
        <p:spPr>
          <a:xfrm>
            <a:off x="752558" y="541427"/>
            <a:ext cx="7817521" cy="0"/>
          </a:xfrm>
          <a:prstGeom prst="line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2" name="Group 7"/>
          <p:cNvGrpSpPr/>
          <p:nvPr userDrawn="1"/>
        </p:nvGrpSpPr>
        <p:grpSpPr bwMode="auto">
          <a:xfrm>
            <a:off x="322236" y="253569"/>
            <a:ext cx="388813" cy="178323"/>
            <a:chOff x="0" y="0"/>
            <a:chExt cx="1041399" cy="549275"/>
          </a:xfrm>
        </p:grpSpPr>
        <p:sp>
          <p:nvSpPr>
            <p:cNvPr id="13" name="Freeform 16"/>
            <p:cNvSpPr/>
            <p:nvPr/>
          </p:nvSpPr>
          <p:spPr bwMode="auto">
            <a:xfrm>
              <a:off x="0" y="0"/>
              <a:ext cx="361950" cy="549275"/>
            </a:xfrm>
            <a:custGeom>
              <a:avLst/>
              <a:gdLst>
                <a:gd name="T0" fmla="*/ 4 w 400"/>
                <a:gd name="T1" fmla="*/ 92 h 608"/>
                <a:gd name="T2" fmla="*/ 96 w 400"/>
                <a:gd name="T3" fmla="*/ 0 h 608"/>
                <a:gd name="T4" fmla="*/ 400 w 400"/>
                <a:gd name="T5" fmla="*/ 304 h 608"/>
                <a:gd name="T6" fmla="*/ 96 w 400"/>
                <a:gd name="T7" fmla="*/ 608 h 608"/>
                <a:gd name="T8" fmla="*/ 0 w 400"/>
                <a:gd name="T9" fmla="*/ 512 h 608"/>
                <a:gd name="T10" fmla="*/ 212 w 400"/>
                <a:gd name="T11" fmla="*/ 300 h 608"/>
                <a:gd name="T12" fmla="*/ 4 w 400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400" h="608">
                  <a:moveTo>
                    <a:pt x="4" y="92"/>
                  </a:moveTo>
                  <a:lnTo>
                    <a:pt x="96" y="0"/>
                  </a:lnTo>
                  <a:lnTo>
                    <a:pt x="400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  <p:sp>
          <p:nvSpPr>
            <p:cNvPr id="14" name="Freeform 17"/>
            <p:cNvSpPr/>
            <p:nvPr/>
          </p:nvSpPr>
          <p:spPr bwMode="auto">
            <a:xfrm>
              <a:off x="3381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6 w 399"/>
                <a:gd name="T3" fmla="*/ 0 h 608"/>
                <a:gd name="T4" fmla="*/ 399 w 399"/>
                <a:gd name="T5" fmla="*/ 304 h 608"/>
                <a:gd name="T6" fmla="*/ 96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6" y="0"/>
                  </a:lnTo>
                  <a:lnTo>
                    <a:pt x="399" y="304"/>
                  </a:lnTo>
                  <a:lnTo>
                    <a:pt x="96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  <p:sp>
          <p:nvSpPr>
            <p:cNvPr id="15" name="Freeform 18"/>
            <p:cNvSpPr/>
            <p:nvPr/>
          </p:nvSpPr>
          <p:spPr bwMode="auto">
            <a:xfrm>
              <a:off x="681037" y="0"/>
              <a:ext cx="360362" cy="549275"/>
            </a:xfrm>
            <a:custGeom>
              <a:avLst/>
              <a:gdLst>
                <a:gd name="T0" fmla="*/ 4 w 399"/>
                <a:gd name="T1" fmla="*/ 92 h 608"/>
                <a:gd name="T2" fmla="*/ 95 w 399"/>
                <a:gd name="T3" fmla="*/ 0 h 608"/>
                <a:gd name="T4" fmla="*/ 399 w 399"/>
                <a:gd name="T5" fmla="*/ 304 h 608"/>
                <a:gd name="T6" fmla="*/ 95 w 399"/>
                <a:gd name="T7" fmla="*/ 608 h 608"/>
                <a:gd name="T8" fmla="*/ 0 w 399"/>
                <a:gd name="T9" fmla="*/ 512 h 608"/>
                <a:gd name="T10" fmla="*/ 212 w 399"/>
                <a:gd name="T11" fmla="*/ 300 h 608"/>
                <a:gd name="T12" fmla="*/ 4 w 399"/>
                <a:gd name="T13" fmla="*/ 92 h 6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399" h="608">
                  <a:moveTo>
                    <a:pt x="4" y="92"/>
                  </a:moveTo>
                  <a:lnTo>
                    <a:pt x="95" y="0"/>
                  </a:lnTo>
                  <a:lnTo>
                    <a:pt x="399" y="304"/>
                  </a:lnTo>
                  <a:lnTo>
                    <a:pt x="95" y="608"/>
                  </a:lnTo>
                  <a:lnTo>
                    <a:pt x="0" y="512"/>
                  </a:lnTo>
                  <a:lnTo>
                    <a:pt x="212" y="300"/>
                  </a:lnTo>
                  <a:lnTo>
                    <a:pt x="4" y="92"/>
                  </a:lnTo>
                  <a:close/>
                </a:path>
              </a:pathLst>
            </a:custGeom>
            <a:gradFill>
              <a:gsLst>
                <a:gs pos="52000">
                  <a:srgbClr val="2373B7"/>
                </a:gs>
                <a:gs pos="0">
                  <a:srgbClr val="198BD1"/>
                </a:gs>
                <a:gs pos="100000">
                  <a:srgbClr val="2F5597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/>
            <a:lstStyle/>
            <a:p>
              <a:endParaRPr lang="zh-CN" altLang="en-US" sz="2080"/>
            </a:p>
          </p:txBody>
        </p:sp>
      </p:grpSp>
      <p:sp>
        <p:nvSpPr>
          <p:cNvPr id="8" name="Rectangle 42"/>
          <p:cNvSpPr/>
          <p:nvPr userDrawn="1"/>
        </p:nvSpPr>
        <p:spPr>
          <a:xfrm>
            <a:off x="0" y="5061039"/>
            <a:ext cx="9144000" cy="82461"/>
          </a:xfrm>
          <a:prstGeom prst="rect">
            <a:avLst/>
          </a:prstGeom>
          <a:solidFill>
            <a:srgbClr val="2F559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>
              <a:defRPr>
                <a:solidFill>
                  <a:schemeClr val="tx1"/>
                </a:solidFill>
                <a:latin typeface="Calibri" panose="020F050202020403020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alibri" panose="020F050202020403020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alibri" panose="020F050202020403020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alibri" panose="020F0502020204030204" charset="0"/>
              </a:defRPr>
            </a:lvl9pPr>
          </a:lstStyle>
          <a:p>
            <a:pPr algn="ctr" eaLnBrk="1" hangingPunct="1">
              <a:lnSpc>
                <a:spcPct val="120000"/>
              </a:lnSpc>
              <a:defRPr/>
            </a:pPr>
            <a:endParaRPr lang="zh-CN" altLang="zh-CN" sz="1170">
              <a:solidFill>
                <a:srgbClr val="FFFFFF"/>
              </a:solidFill>
              <a:latin typeface="Arial" panose="020B0604020202020204" pitchFamily="34" charset="0"/>
              <a:ea typeface="思源黑体 CN Normal" panose="020B0400000000000000" pitchFamily="34" charset="-122"/>
              <a:sym typeface="Arial" panose="020B0604020202020204" pitchFamily="34" charset="0"/>
            </a:endParaRPr>
          </a:p>
        </p:txBody>
      </p:sp>
    </p:spTree>
  </p:cSld>
  <p:clrMapOvr>
    <a:masterClrMapping/>
  </p:clrMapOvr>
  <p:transition spd="slow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456300" y="456300"/>
            <a:ext cx="8226900" cy="529200"/>
          </a:xfrm>
        </p:spPr>
        <p:txBody>
          <a:bodyPr/>
          <a:lstStyle>
            <a:lvl1pPr algn="ctr">
              <a:defRPr sz="2400">
                <a:solidFill>
                  <a:srgbClr val="333333"/>
                </a:solidFill>
                <a:latin typeface="+mj-ea"/>
                <a:ea typeface="+mj-ea"/>
                <a:cs typeface="+mj-ea"/>
                <a:sym typeface="+mj-ea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>
          <a:xfrm>
            <a:off x="459000" y="4735800"/>
            <a:ext cx="2025000" cy="2376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>
          <a:xfrm>
            <a:off x="3087000" y="4735800"/>
            <a:ext cx="2970000" cy="237600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>
          <a:xfrm>
            <a:off x="6658200" y="4735800"/>
            <a:ext cx="2025000" cy="237600"/>
          </a:xfrm>
        </p:spPr>
        <p:txBody>
          <a:bodyPr/>
          <a:lstStyle>
            <a:lvl1pPr>
              <a:defRPr>
                <a:latin typeface="+mn-ea"/>
                <a:ea typeface="+mn-ea"/>
                <a:cs typeface="+mn-ea"/>
                <a:sym typeface="+mn-ea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6.png"/><Relationship Id="rId2" Type="http://schemas.openxmlformats.org/officeDocument/2006/relationships/image" Target="../media/image8.png"/><Relationship Id="rId1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9.png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4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0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1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6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4.png"/><Relationship Id="rId2" Type="http://schemas.openxmlformats.org/officeDocument/2006/relationships/image" Target="../media/image13.svg"/><Relationship Id="rId1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7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5.png"/><Relationship Id="rId1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6.png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9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17.png"/><Relationship Id="rId1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2d55bbbf0a794d2daff265f2a2ef259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-2300"/>
            <a:ext cx="9144000" cy="4663887"/>
          </a:xfrm>
          <a:prstGeom prst="rect">
            <a:avLst/>
          </a:prstGeom>
        </p:spPr>
      </p:pic>
      <p:sp>
        <p:nvSpPr>
          <p:cNvPr id="3" name="Object2"/>
          <p:cNvSpPr/>
          <p:nvPr/>
        </p:nvSpPr>
        <p:spPr>
          <a:xfrm>
            <a:off x="320675" y="920750"/>
            <a:ext cx="8277225" cy="9067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>
              <a:lnSpc>
                <a:spcPct val="90000"/>
              </a:lnSpc>
            </a:pPr>
            <a:r>
              <a:rPr lang="en-US" altLang="zh-CN" sz="3600" b="1" kern="0" spc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MQ</a:t>
            </a:r>
            <a:r>
              <a:rPr lang="zh-CN" altLang="en-US" sz="3600" b="1" kern="0" spc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与其他中间件高频面试题</a:t>
            </a:r>
            <a:r>
              <a:rPr lang="en-US" altLang="zh-CN" sz="3600" b="1" kern="0" spc="75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1</a:t>
            </a:r>
            <a:endParaRPr lang="en-US" altLang="zh-CN" sz="3600" b="1" kern="0" spc="75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  <a:p>
            <a:pPr algn="ctr">
              <a:lnSpc>
                <a:spcPct val="90000"/>
              </a:lnSpc>
            </a:pPr>
            <a:endParaRPr lang="zh-CN" altLang="en-US" sz="900" dirty="0"/>
          </a:p>
        </p:txBody>
      </p:sp>
      <p:sp>
        <p:nvSpPr>
          <p:cNvPr id="4" name="Object3"/>
          <p:cNvSpPr/>
          <p:nvPr/>
        </p:nvSpPr>
        <p:spPr>
          <a:xfrm>
            <a:off x="1897380" y="2671019"/>
            <a:ext cx="5349240" cy="512064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r"/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2026年</a:t>
            </a:r>
            <a:r>
              <a:rPr lang="zh-CN" alt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金三银四</a:t>
            </a:r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面试突击班</a:t>
            </a:r>
            <a:endParaRPr lang="en-US" sz="1500" dirty="0"/>
          </a:p>
        </p:txBody>
      </p:sp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2E9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2E9FFF"/>
            </a:solidFill>
            <a:prstDash val="solid"/>
          </a:ln>
        </p:spPr>
      </p:sp>
      <p:pic>
        <p:nvPicPr>
          <p:cNvPr id="7" name="Object 6" descr="https://fynotefile.oss-cn-zhangjiakou.aliyuncs.com/fynote/fyfile/392/1/8486aefb265a42c4adf6d8938809b6d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71680" y="-2300"/>
            <a:ext cx="2372320" cy="1829940"/>
          </a:xfrm>
          <a:prstGeom prst="rect">
            <a:avLst/>
          </a:prstGeom>
        </p:spPr>
      </p:pic>
      <p:pic>
        <p:nvPicPr>
          <p:cNvPr id="8" name="Object 7" descr="https://fynotefile.oss-cn-zhangjiakou.aliyuncs.com/fynote/fyfile/392/1/9942b3bd883144a4ba9eba285821ceb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413426"/>
            <a:ext cx="1495032" cy="2480583"/>
          </a:xfrm>
          <a:prstGeom prst="rect">
            <a:avLst/>
          </a:prstGeom>
        </p:spPr>
      </p:pic>
      <p:pic>
        <p:nvPicPr>
          <p:cNvPr id="9" name="Object 8" descr="https://fynotefile.oss-cn-zhangjiakou.aliyuncs.com/fynote/fyfile/392/1/38ad7252fd0c4accabf65b2b6e4a092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3442" y="2886332"/>
            <a:ext cx="266271" cy="266271"/>
          </a:xfrm>
          <a:prstGeom prst="rect">
            <a:avLst/>
          </a:prstGeom>
        </p:spPr>
      </p:pic>
      <p:sp>
        <p:nvSpPr>
          <p:cNvPr id="11" name="Object3"/>
          <p:cNvSpPr/>
          <p:nvPr/>
        </p:nvSpPr>
        <p:spPr>
          <a:xfrm>
            <a:off x="1590675" y="3873074"/>
            <a:ext cx="5349240" cy="512064"/>
          </a:xfrm>
          <a:prstGeom prst="rect">
            <a:avLst/>
          </a:prstGeom>
          <a:noFill/>
        </p:spPr>
        <p:txBody>
          <a:bodyPr wrap="square" rtlCol="0" anchor="ctr"/>
          <a:p>
            <a:pPr algn="r"/>
            <a:r>
              <a:rPr 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8</a:t>
            </a:r>
            <a:r>
              <a:rPr lang="zh-CN" altLang="en-US" sz="1800" dirty="0">
                <a:solidFill>
                  <a:srgbClr val="666666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点正式开始！</a:t>
            </a:r>
            <a:endParaRPr lang="zh-CN" altLang="en-US" sz="1800" dirty="0">
              <a:solidFill>
                <a:srgbClr val="666666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https://fynotefile.oss-cn-zhangjiakou.aliyuncs.com/fynote/fyfile/392/1/01d9609cac084c43b9fbc9119b17a5fc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6801485" cy="3784600"/>
          </a:xfrm>
          <a:prstGeom prst="rect">
            <a:avLst/>
          </a:prstGeom>
        </p:spPr>
      </p:pic>
      <p:pic>
        <p:nvPicPr>
          <p:cNvPr id="3" name="Object 2" descr="https://fynotefile.oss-cn-zhangjiakou.aliyuncs.com/fynote/fyfile/392/1/e06acedcd6c44249943ef2119ff824c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7552" y="3426310"/>
            <a:ext cx="2656448" cy="1742336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8691286" y="2028552"/>
            <a:ext cx="0" cy="2411212"/>
          </a:xfrm>
          <a:custGeom>
            <a:avLst/>
            <a:gdLst/>
            <a:ahLst/>
            <a:cxnLst/>
            <a:rect l="l" t="t" r="r" b="b"/>
            <a:pathLst>
              <a:path h="2411212">
                <a:moveTo>
                  <a:pt x="0" y="0"/>
                </a:moveTo>
                <a:lnTo>
                  <a:pt x="0" y="2411212"/>
                </a:lnTo>
              </a:path>
            </a:pathLst>
          </a:custGeom>
          <a:noFill/>
          <a:ln w="19050">
            <a:solidFill>
              <a:srgbClr val="FFFFFF"/>
            </a:solidFill>
            <a:prstDash val="solid"/>
            <a:headEnd type="none"/>
            <a:tailEnd type="none"/>
          </a:ln>
        </p:spPr>
      </p:sp>
      <p:sp>
        <p:nvSpPr>
          <p:cNvPr id="6" name="Object5"/>
          <p:cNvSpPr/>
          <p:nvPr/>
        </p:nvSpPr>
        <p:spPr>
          <a:xfrm flipV="1">
            <a:off x="8598328" y="4542715"/>
            <a:ext cx="185916" cy="137160"/>
          </a:xfrm>
          <a:custGeom>
            <a:avLst/>
            <a:gdLst/>
            <a:ahLst/>
            <a:cxnLst/>
            <a:rect l="l" t="t" r="r" b="b"/>
            <a:pathLst>
              <a:path w="185916" h="137160">
                <a:moveTo>
                  <a:pt x="92958" y="0"/>
                </a:moveTo>
                <a:lnTo>
                  <a:pt x="0" y="137160"/>
                </a:lnTo>
                <a:lnTo>
                  <a:pt x="185916" y="137160"/>
                </a:lnTo>
                <a:lnTo>
                  <a:pt x="92958" y="0"/>
                </a:lnTo>
                <a:close/>
              </a:path>
            </a:pathLst>
          </a:custGeom>
          <a:solidFill>
            <a:srgbClr val="FFFFFF">
              <a:alpha val="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文本框 9"/>
          <p:cNvSpPr txBox="1"/>
          <p:nvPr/>
        </p:nvSpPr>
        <p:spPr>
          <a:xfrm>
            <a:off x="471805" y="1259840"/>
            <a:ext cx="6021705" cy="27584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60000"/>
              </a:lnSpc>
              <a:buNone/>
            </a:pPr>
            <a:r>
              <a:rPr lang="zh-CN"/>
              <a:t>1、</a:t>
            </a:r>
            <a:r>
              <a:rPr lang="en-US"/>
              <a:t>RabbitMQ</a:t>
            </a:r>
            <a:r>
              <a:rPr lang="zh-CN" altLang="en-US"/>
              <a:t>的高可用与具体实现</a:t>
            </a:r>
            <a:r>
              <a:rPr lang="en-US" altLang="zh-CN"/>
              <a:t>!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/>
              <a:t>Kafka</a:t>
            </a:r>
            <a:r>
              <a:rPr lang="zh-CN" altLang="en-US"/>
              <a:t>的高可用与具体实现</a:t>
            </a:r>
            <a:r>
              <a:rPr lang="en-US" altLang="zh-CN"/>
              <a:t>!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/>
              <a:t>RocketMQ</a:t>
            </a:r>
            <a:r>
              <a:rPr lang="zh-CN" altLang="en-US"/>
              <a:t>的高可用与具体实现！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/>
              <a:t>Nginx</a:t>
            </a:r>
            <a:r>
              <a:rPr lang="zh-CN" altLang="en-US"/>
              <a:t>的高可用与具体实现</a:t>
            </a:r>
            <a:br>
              <a:rPr lang="zh-CN" altLang="en-US"/>
            </a:br>
            <a:r>
              <a:rPr lang="en-US" altLang="zh-CN"/>
              <a:t>5</a:t>
            </a:r>
            <a:r>
              <a:rPr lang="zh-CN" altLang="en-US"/>
              <a:t>、</a:t>
            </a:r>
            <a:r>
              <a:rPr lang="en-US" altLang="zh-CN"/>
              <a:t>MySQL </a:t>
            </a:r>
            <a:r>
              <a:rPr lang="zh-CN" altLang="en-US"/>
              <a:t>的高可用（</a:t>
            </a:r>
            <a:r>
              <a:rPr lang="en-US" altLang="zh-CN"/>
              <a:t>HA</a:t>
            </a:r>
            <a:r>
              <a:rPr lang="zh-CN" altLang="en-US"/>
              <a:t>）架构方案</a:t>
            </a:r>
            <a:endParaRPr lang="zh-CN" altLang="en-US"/>
          </a:p>
          <a:p>
            <a:pPr indent="0">
              <a:lnSpc>
                <a:spcPct val="160000"/>
              </a:lnSpc>
              <a:buNone/>
            </a:pPr>
            <a:r>
              <a:rPr lang="en-US" altLang="zh-CN"/>
              <a:t>6</a:t>
            </a:r>
            <a:r>
              <a:rPr lang="zh-CN" altLang="en-US"/>
              <a:t>、</a:t>
            </a:r>
            <a:r>
              <a:rPr lang="en-US"/>
              <a:t>Raft</a:t>
            </a:r>
            <a:r>
              <a:rPr lang="zh-CN" altLang="en-US"/>
              <a:t>算法深度解读！</a:t>
            </a:r>
            <a:endParaRPr lang="zh-CN" altLang="en-US"/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sp>
        <p:nvSpPr>
          <p:cNvPr id="4" name="文本框 3"/>
          <p:cNvSpPr txBox="1"/>
          <p:nvPr/>
        </p:nvSpPr>
        <p:spPr>
          <a:xfrm>
            <a:off x="2571750" y="181610"/>
            <a:ext cx="4642485" cy="398780"/>
          </a:xfrm>
          <a:prstGeom prst="rect">
            <a:avLst/>
          </a:prstGeom>
        </p:spPr>
        <p:txBody>
          <a:bodyPr wrap="square">
            <a:spAutoFit/>
          </a:bodyPr>
          <a:p>
            <a:pPr marL="0" indent="0">
              <a:spcAft>
                <a:spcPct val="60000"/>
              </a:spcAft>
            </a:pPr>
            <a:r>
              <a:rPr lang="zh-CN" altLang="en-US" sz="2000" b="1" i="0">
                <a:solidFill>
                  <a:srgbClr val="333333"/>
                </a:solidFill>
                <a:latin typeface="Open Sans"/>
                <a:ea typeface="Open Sans"/>
              </a:rPr>
              <a:t>各种中间件的</a:t>
            </a:r>
            <a:r>
              <a:rPr lang="en-US" altLang="zh-CN" sz="2000" b="1" i="0">
                <a:solidFill>
                  <a:srgbClr val="333333"/>
                </a:solidFill>
                <a:latin typeface="Open Sans"/>
                <a:ea typeface="Open Sans"/>
              </a:rPr>
              <a:t>HA</a:t>
            </a:r>
            <a:r>
              <a:rPr lang="zh-CN" altLang="en-US" sz="2000" b="1" i="0">
                <a:solidFill>
                  <a:srgbClr val="333333"/>
                </a:solidFill>
                <a:latin typeface="Open Sans"/>
                <a:ea typeface="宋体" panose="02010600030101010101" pitchFamily="2" charset="-122"/>
              </a:rPr>
              <a:t>（高可用）</a:t>
            </a:r>
            <a:r>
              <a:rPr lang="zh-CN" altLang="en-US" sz="2000" b="1">
                <a:solidFill>
                  <a:srgbClr val="333333"/>
                </a:solidFill>
                <a:latin typeface="Open Sans"/>
                <a:ea typeface="宋体" panose="02010600030101010101" pitchFamily="2" charset="-122"/>
                <a:sym typeface="+mn-ea"/>
              </a:rPr>
              <a:t>机制</a:t>
            </a:r>
            <a:endParaRPr lang="zh-CN" altLang="en-US" sz="2000" b="1" i="0">
              <a:solidFill>
                <a:srgbClr val="333333"/>
              </a:solidFill>
              <a:latin typeface="Open Sans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2" y="0"/>
            <a:ext cx="4376184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RabbitMQ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</a:t>
            </a:r>
            <a:endParaRPr lang="zh-CN" altLang="en-US" sz="27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71170" y="534670"/>
            <a:ext cx="7601585" cy="176784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None/>
            </a:pPr>
            <a:r>
              <a:rPr lang="zh-CN"/>
              <a:t>1、</a:t>
            </a:r>
            <a:r>
              <a:rPr lang="en-US"/>
              <a:t>RabbitMQ</a:t>
            </a:r>
            <a:r>
              <a:rPr lang="zh-CN" altLang="en-US"/>
              <a:t>的</a:t>
            </a:r>
            <a:r>
              <a:rPr lang="zh-CN"/>
              <a:t>集群</a:t>
            </a:r>
            <a:endParaRPr lang="zh-CN" altLang="en-US"/>
          </a:p>
          <a:p>
            <a:pPr indent="0">
              <a:lnSpc>
                <a:spcPct val="150000"/>
              </a:lnSpc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zh-CN"/>
              <a:t>镜像队列（高可用的关键）</a:t>
            </a:r>
            <a:endParaRPr lang="zh-CN"/>
          </a:p>
          <a:p>
            <a:pPr indent="0">
              <a:lnSpc>
                <a:spcPct val="150000"/>
              </a:lnSpc>
              <a:buNone/>
            </a:pPr>
            <a:r>
              <a:rPr lang="en-US" altLang="zh-CN"/>
              <a:t>3</a:t>
            </a:r>
            <a:r>
              <a:rPr lang="zh-CN" altLang="en-US"/>
              <a:t>、</a:t>
            </a:r>
            <a:r>
              <a:rPr lang="en-US" altLang="zh-CN"/>
              <a:t>Nginx/HAProxy</a:t>
            </a:r>
            <a:r>
              <a:rPr lang="zh-CN" altLang="en-US"/>
              <a:t>实现负载均衡</a:t>
            </a:r>
            <a:endParaRPr lang="zh-CN" altLang="en-US"/>
          </a:p>
          <a:p>
            <a:pPr indent="0">
              <a:lnSpc>
                <a:spcPct val="150000"/>
              </a:lnSpc>
              <a:buNone/>
            </a:pPr>
            <a:r>
              <a:rPr lang="en-US" altLang="zh-CN"/>
              <a:t>4</a:t>
            </a:r>
            <a:r>
              <a:rPr lang="zh-CN" altLang="en-US"/>
              <a:t>、</a:t>
            </a:r>
            <a:r>
              <a:rPr lang="en-US" altLang="zh-CN"/>
              <a:t>Keepalived</a:t>
            </a:r>
            <a:r>
              <a:rPr lang="zh-CN" altLang="en-US"/>
              <a:t>实现高可用架构</a:t>
            </a: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6785" y="2302510"/>
            <a:ext cx="5372735" cy="26460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2" y="0"/>
            <a:ext cx="4376184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RabbitMQ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</a:t>
            </a:r>
            <a:endParaRPr lang="zh-CN" altLang="en-US" sz="27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3105" y="605790"/>
            <a:ext cx="5959475" cy="45262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2" y="0"/>
            <a:ext cx="4376184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</a:t>
            </a:r>
            <a:endParaRPr lang="zh-CN" altLang="en-US" sz="27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sp>
        <p:nvSpPr>
          <p:cNvPr id="10" name="文本框 9"/>
          <p:cNvSpPr txBox="1"/>
          <p:nvPr/>
        </p:nvSpPr>
        <p:spPr>
          <a:xfrm>
            <a:off x="419100" y="488950"/>
            <a:ext cx="7633335" cy="108394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None/>
            </a:pPr>
            <a:r>
              <a:rPr lang="zh-CN"/>
              <a:t>1、</a:t>
            </a:r>
            <a:r>
              <a:rPr lang="en-US" altLang="zh-CN"/>
              <a:t>Broker</a:t>
            </a:r>
            <a:r>
              <a:rPr lang="zh-CN" altLang="en-US"/>
              <a:t>数据存储的高可用</a:t>
            </a:r>
            <a:endParaRPr lang="zh-CN" altLang="en-US"/>
          </a:p>
          <a:p>
            <a:pPr indent="0">
              <a:lnSpc>
                <a:spcPct val="150000"/>
              </a:lnSpc>
              <a:buNone/>
            </a:pPr>
            <a:r>
              <a:rPr lang="en-US" altLang="zh-CN"/>
              <a:t>2</a:t>
            </a:r>
            <a:r>
              <a:rPr lang="zh-CN" altLang="en-US"/>
              <a:t>、</a:t>
            </a:r>
            <a:r>
              <a:rPr lang="en-US" altLang="zh-CN"/>
              <a:t>Zookeeper</a:t>
            </a:r>
            <a:r>
              <a:rPr lang="zh-CN" altLang="en-US"/>
              <a:t>与</a:t>
            </a:r>
            <a:r>
              <a:rPr lang="en-US" altLang="zh-CN"/>
              <a:t>Kraft</a:t>
            </a:r>
            <a:r>
              <a:rPr lang="zh-CN" altLang="en-US"/>
              <a:t>的高可用机制</a:t>
            </a:r>
            <a:endParaRPr lang="zh-CN" altLang="en-US"/>
          </a:p>
          <a:p>
            <a:pPr indent="0">
              <a:lnSpc>
                <a:spcPct val="150000"/>
              </a:lnSpc>
              <a:buNone/>
            </a:pPr>
            <a:endParaRPr lang="zh-CN" altLang="en-US"/>
          </a:p>
          <a:p>
            <a:pPr indent="0">
              <a:lnSpc>
                <a:spcPct val="150000"/>
              </a:lnSpc>
              <a:buNone/>
            </a:pPr>
            <a:endParaRPr lang="zh-CN" altLang="en-US"/>
          </a:p>
          <a:p>
            <a:pPr indent="0">
              <a:lnSpc>
                <a:spcPct val="150000"/>
              </a:lnSpc>
              <a:buNone/>
            </a:pPr>
            <a:endParaRPr lang="en-US" altLang="zh-CN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9500" y="1490345"/>
            <a:ext cx="5524500" cy="358140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05435" y="2118360"/>
            <a:ext cx="2967990" cy="15995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indent="0">
              <a:lnSpc>
                <a:spcPct val="150000"/>
              </a:lnSpc>
              <a:buNone/>
            </a:pPr>
            <a:r>
              <a:rPr lang="zh-CN" altLang="en-US" sz="1400">
                <a:sym typeface="+mn-ea"/>
              </a:rPr>
              <a:t>右边的图：</a:t>
            </a:r>
            <a:br>
              <a:rPr lang="zh-CN" altLang="en-US" sz="1400">
                <a:sym typeface="+mn-ea"/>
              </a:rPr>
            </a:b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台</a:t>
            </a:r>
            <a:r>
              <a:rPr lang="en-US" altLang="zh-CN" sz="1400">
                <a:sym typeface="+mn-ea"/>
              </a:rPr>
              <a:t>Broker</a:t>
            </a:r>
            <a:r>
              <a:rPr lang="zh-CN" altLang="en-US" sz="1400">
                <a:sym typeface="+mn-ea"/>
              </a:rPr>
              <a:t>（</a:t>
            </a:r>
            <a:r>
              <a:rPr lang="en-US" altLang="zh-CN" sz="1400">
                <a:sym typeface="+mn-ea"/>
              </a:rPr>
              <a:t>Kakfa</a:t>
            </a:r>
            <a:r>
              <a:rPr lang="zh-CN" altLang="en-US" sz="1400">
                <a:sym typeface="+mn-ea"/>
              </a:rPr>
              <a:t>）</a:t>
            </a:r>
            <a:endParaRPr lang="zh-CN" altLang="en-US" sz="1400"/>
          </a:p>
          <a:p>
            <a:pPr indent="0">
              <a:lnSpc>
                <a:spcPct val="150000"/>
              </a:lnSpc>
              <a:buNone/>
            </a:pPr>
            <a:r>
              <a:rPr lang="zh-CN" altLang="en-US" sz="1400">
                <a:sym typeface="+mn-ea"/>
              </a:rPr>
              <a:t>一个主题：主题</a:t>
            </a:r>
            <a:r>
              <a:rPr lang="en-US" altLang="zh-CN" sz="1400">
                <a:sym typeface="+mn-ea"/>
              </a:rPr>
              <a:t>A</a:t>
            </a:r>
            <a:endParaRPr lang="en-US" altLang="zh-CN" sz="1400"/>
          </a:p>
          <a:p>
            <a:pPr indent="0">
              <a:lnSpc>
                <a:spcPct val="150000"/>
              </a:lnSpc>
              <a:buNone/>
            </a:pPr>
            <a:r>
              <a:rPr lang="zh-CN" altLang="en-US" sz="1400">
                <a:sym typeface="+mn-ea"/>
              </a:rPr>
              <a:t>主题</a:t>
            </a:r>
            <a:r>
              <a:rPr lang="en-US" altLang="zh-CN" sz="1400">
                <a:sym typeface="+mn-ea"/>
              </a:rPr>
              <a:t>A</a:t>
            </a:r>
            <a:r>
              <a:rPr lang="zh-CN" altLang="en-US" sz="1400">
                <a:sym typeface="+mn-ea"/>
              </a:rPr>
              <a:t>有</a:t>
            </a:r>
            <a:r>
              <a:rPr lang="en-US" altLang="zh-CN" sz="1400">
                <a:sym typeface="+mn-ea"/>
              </a:rPr>
              <a:t>2</a:t>
            </a:r>
            <a:r>
              <a:rPr lang="zh-CN" altLang="en-US" sz="1400">
                <a:sym typeface="+mn-ea"/>
              </a:rPr>
              <a:t>个分区：分区</a:t>
            </a:r>
            <a:r>
              <a:rPr lang="en-US" altLang="zh-CN" sz="1400">
                <a:sym typeface="+mn-ea"/>
              </a:rPr>
              <a:t>0</a:t>
            </a:r>
            <a:r>
              <a:rPr lang="zh-CN" altLang="en-US" sz="1400">
                <a:sym typeface="+mn-ea"/>
              </a:rPr>
              <a:t>，分区</a:t>
            </a:r>
            <a:r>
              <a:rPr lang="en-US" altLang="zh-CN" sz="1400">
                <a:sym typeface="+mn-ea"/>
              </a:rPr>
              <a:t>1</a:t>
            </a:r>
            <a:endParaRPr lang="en-US" altLang="zh-CN" sz="1400"/>
          </a:p>
          <a:p>
            <a:r>
              <a:rPr lang="zh-CN" altLang="en-US" sz="1400"/>
              <a:t>副本数</a:t>
            </a:r>
            <a:r>
              <a:rPr lang="en-US" altLang="zh-CN" sz="1400"/>
              <a:t>Replica</a:t>
            </a:r>
            <a:r>
              <a:rPr lang="zh-CN" altLang="en-US" sz="1400"/>
              <a:t>：</a:t>
            </a:r>
            <a:r>
              <a:rPr lang="en-US" altLang="zh-CN" sz="1400"/>
              <a:t> 2</a:t>
            </a:r>
            <a:endParaRPr lang="en-US" altLang="zh-CN" sz="14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742068" y="5093"/>
            <a:ext cx="4845301" cy="761623"/>
          </a:xfrm>
          <a:prstGeom prst="rect">
            <a:avLst/>
          </a:prstGeom>
          <a:noFill/>
        </p:spPr>
        <p:txBody>
          <a:bodyPr wrap="square" lIns="87258" tIns="43629" rIns="87258" bIns="43629" rtlCol="0" anchor="ctr"/>
          <a:lstStyle/>
          <a:p>
            <a:pPr algn="ctr"/>
            <a:r>
              <a:rPr lang="en-US" altLang="zh-CN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Kafka</a:t>
            </a:r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与</a:t>
            </a:r>
            <a:r>
              <a:rPr lang="en-US" altLang="zh-CN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KRaft</a:t>
            </a:r>
            <a:r>
              <a:rPr lang="zh-CN" altLang="en-US" sz="2585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协议</a:t>
            </a:r>
            <a:endParaRPr lang="zh-CN" altLang="en-US" sz="2585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8" name="图片 17"/>
          <p:cNvPicPr/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072" y="79218"/>
            <a:ext cx="1290119" cy="390431"/>
          </a:xfrm>
          <a:prstGeom prst="rect">
            <a:avLst/>
          </a:prstGeom>
        </p:spPr>
      </p:pic>
      <p:sp>
        <p:nvSpPr>
          <p:cNvPr id="5" name="矩形 2"/>
          <p:cNvSpPr/>
          <p:nvPr/>
        </p:nvSpPr>
        <p:spPr>
          <a:xfrm>
            <a:off x="64770" y="547370"/>
            <a:ext cx="4144010" cy="2189480"/>
          </a:xfrm>
          <a:prstGeom prst="rect">
            <a:avLst/>
          </a:prstGeom>
          <a:noFill/>
          <a:ln w="9525">
            <a:noFill/>
          </a:ln>
        </p:spPr>
        <p:txBody>
          <a:bodyPr wrap="square" lIns="87258" tIns="43629" rIns="87258" bIns="43629">
            <a:spAutoFit/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</a:lstStyle>
          <a:p>
            <a:pPr marL="20320" lvl="1" indent="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None/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1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、为什么需要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KRaft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？</a:t>
            </a:r>
            <a:endPara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marL="20320" lvl="1" indent="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None/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2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KRaft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是什么？</a:t>
            </a:r>
            <a:endPara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marL="20320" lvl="1" indent="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None/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3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Raft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共识算法快速入门</a:t>
            </a:r>
            <a:endPara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  <a:p>
            <a:pPr marL="20320" lvl="1" indent="0">
              <a:lnSpc>
                <a:spcPct val="190000"/>
              </a:lnSpc>
              <a:spcBef>
                <a:spcPct val="0"/>
              </a:spcBef>
              <a:buClr>
                <a:srgbClr val="FFC000"/>
              </a:buClr>
              <a:buNone/>
            </a:pP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4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、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KRaft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在</a:t>
            </a:r>
            <a:r>
              <a:rPr lang="en-US" altLang="zh-CN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 Kafka </a:t>
            </a:r>
            <a:r>
              <a:rPr lang="zh-CN" altLang="en-US" sz="1800" dirty="0" smtClean="0">
                <a:latin typeface="微软雅黑" panose="020B0503020204020204" pitchFamily="34" charset="-122"/>
                <a:ea typeface="微软雅黑" panose="020B0503020204020204" pitchFamily="34" charset="-122"/>
                <a:cs typeface="宋体" panose="02010600030101010101" pitchFamily="2" charset="-122"/>
                <a:sym typeface="+mn-ea"/>
              </a:rPr>
              <a:t>中的实现</a:t>
            </a:r>
            <a:endParaRPr lang="zh-CN" altLang="en-US" sz="1800" dirty="0" smtClean="0">
              <a:latin typeface="微软雅黑" panose="020B0503020204020204" pitchFamily="34" charset="-122"/>
              <a:ea typeface="微软雅黑" panose="020B0503020204020204" pitchFamily="34" charset="-122"/>
              <a:cs typeface="宋体" panose="02010600030101010101" pitchFamily="2" charset="-122"/>
              <a:sym typeface="+mn-ea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9960" y="1598295"/>
            <a:ext cx="5594985" cy="337947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2" y="0"/>
            <a:ext cx="4376184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RocketMQ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</a:t>
            </a:r>
            <a:endParaRPr lang="zh-CN" altLang="en-US" sz="27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pic>
        <p:nvPicPr>
          <p:cNvPr id="1026" name="Picture 2" descr="G:\VIP课三期\消息中间件\RocketMQ\img\消费的高可用机制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78965" y="1295400"/>
            <a:ext cx="7265035" cy="37680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文本框 1"/>
          <p:cNvSpPr txBox="1"/>
          <p:nvPr/>
        </p:nvSpPr>
        <p:spPr>
          <a:xfrm>
            <a:off x="367030" y="572770"/>
            <a:ext cx="3321050" cy="684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None/>
            </a:pPr>
            <a:r>
              <a:rPr lang="zh-CN"/>
              <a:t>1、</a:t>
            </a:r>
            <a:r>
              <a:rPr lang="zh-CN" altLang="en-US"/>
              <a:t>传统</a:t>
            </a:r>
            <a:r>
              <a:rPr lang="en-US" altLang="zh-CN"/>
              <a:t>Master-Slave</a:t>
            </a:r>
            <a:r>
              <a:rPr lang="zh-CN" altLang="en-US"/>
              <a:t>的高可用</a:t>
            </a:r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93292" y="0"/>
            <a:ext cx="4376184" cy="676656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RocketMQ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的</a:t>
            </a:r>
            <a:r>
              <a:rPr lang="en-US" altLang="zh-CN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HA</a:t>
            </a:r>
            <a:r>
              <a:rPr lang="zh-CN" altLang="en-US" sz="2700" dirty="0" smtClean="0">
                <a:solidFill>
                  <a:srgbClr val="333333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0"/>
              </a:rPr>
              <a:t>机制</a:t>
            </a:r>
            <a:endParaRPr lang="zh-CN" altLang="en-US" sz="27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67030" y="572770"/>
            <a:ext cx="3321050" cy="684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None/>
            </a:pPr>
            <a:r>
              <a:rPr lang="en-US" altLang="zh-CN"/>
              <a:t>2</a:t>
            </a:r>
            <a:r>
              <a:rPr lang="zh-CN"/>
              <a:t>、</a:t>
            </a:r>
            <a:r>
              <a:rPr lang="en-US" altLang="zh-CN"/>
              <a:t>DLedger</a:t>
            </a:r>
            <a:r>
              <a:rPr lang="zh-CN" altLang="en-US"/>
              <a:t>的高可用（</a:t>
            </a:r>
            <a:r>
              <a:rPr lang="en-US" altLang="zh-CN"/>
              <a:t>Raft</a:t>
            </a:r>
            <a:r>
              <a:rPr lang="zh-CN" altLang="en-US"/>
              <a:t>）</a:t>
            </a:r>
            <a:endParaRPr lang="zh-CN" altLang="en-US"/>
          </a:p>
          <a:p>
            <a:pPr indent="0">
              <a:lnSpc>
                <a:spcPct val="150000"/>
              </a:lnSpc>
              <a:buNone/>
            </a:pPr>
            <a:r>
              <a:rPr lang="zh-CN" altLang="en-US"/>
              <a:t>一般是配置</a:t>
            </a:r>
            <a:r>
              <a:rPr lang="en-US" altLang="zh-CN"/>
              <a:t>3/5</a:t>
            </a:r>
            <a:r>
              <a:rPr lang="zh-CN" altLang="en-US"/>
              <a:t>个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75510" y="1257300"/>
            <a:ext cx="6838315" cy="368871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7"/>
          <p:cNvSpPr/>
          <p:nvPr/>
        </p:nvSpPr>
        <p:spPr>
          <a:xfrm>
            <a:off x="2215515" y="146050"/>
            <a:ext cx="5828665" cy="3886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algn="ctr"/>
            <a:r>
              <a:rPr lang="en-US" altLang="zh-CN" sz="2700">
                <a:sym typeface="+mn-ea"/>
              </a:rPr>
              <a:t>MySQL </a:t>
            </a:r>
            <a:r>
              <a:rPr lang="zh-CN" altLang="en-US" sz="2700">
                <a:sym typeface="+mn-ea"/>
              </a:rPr>
              <a:t>的高可用（</a:t>
            </a:r>
            <a:r>
              <a:rPr lang="en-US" altLang="zh-CN" sz="2700">
                <a:sym typeface="+mn-ea"/>
              </a:rPr>
              <a:t>HA</a:t>
            </a:r>
            <a:r>
              <a:rPr lang="zh-CN" altLang="en-US" sz="2700">
                <a:sym typeface="+mn-ea"/>
              </a:rPr>
              <a:t>）架构方案</a:t>
            </a:r>
            <a:endParaRPr lang="zh-CN" altLang="en-US" sz="2700" dirty="0" smtClean="0">
              <a:solidFill>
                <a:srgbClr val="333333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0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50" y="0"/>
            <a:ext cx="1614170" cy="534670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367030" y="572770"/>
            <a:ext cx="3321050" cy="68453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None/>
            </a:pPr>
            <a:r>
              <a:rPr lang="en-US" altLang="zh-CN"/>
              <a:t>MySQL</a:t>
            </a:r>
            <a:r>
              <a:rPr lang="zh-CN" altLang="en-US"/>
              <a:t>主从同步原理</a:t>
            </a:r>
            <a:endParaRPr lang="zh-CN" altLang="en-US"/>
          </a:p>
          <a:p>
            <a:pPr indent="0">
              <a:lnSpc>
                <a:spcPct val="150000"/>
              </a:lnSpc>
              <a:buNone/>
            </a:pPr>
            <a:endParaRPr lang="zh-CN" altLang="en-US"/>
          </a:p>
          <a:p>
            <a:pPr indent="0">
              <a:lnSpc>
                <a:spcPct val="150000"/>
              </a:lnSpc>
              <a:buNone/>
            </a:pPr>
            <a:endParaRPr lang="zh-CN" altLang="en-US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7930" y="1098550"/>
            <a:ext cx="5673725" cy="36677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commondata" val="eyJoZGlkIjoiMWQzYzE3Njg5OWQxMWVjNWY2ZWE2MTQyMjJhNGZiYzQifQ==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533</Words>
  <Application>WPS 演示</Application>
  <PresentationFormat>On-screen Show (16:9)</PresentationFormat>
  <Paragraphs>59</Paragraphs>
  <Slides>9</Slides>
  <Notes>14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2" baseType="lpstr">
      <vt:lpstr>Arial</vt:lpstr>
      <vt:lpstr>宋体</vt:lpstr>
      <vt:lpstr>Wingdings</vt:lpstr>
      <vt:lpstr>Calibri</vt:lpstr>
      <vt:lpstr>思源黑体 CN Normal</vt:lpstr>
      <vt:lpstr>微软雅黑</vt:lpstr>
      <vt:lpstr>微软雅黑</vt:lpstr>
      <vt:lpstr>Open Sans</vt:lpstr>
      <vt:lpstr>Segoe Print</vt:lpstr>
      <vt:lpstr>Arial Unicode MS</vt:lpstr>
      <vt:lpstr>等线</vt:lpstr>
      <vt:lpstr>黑体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李瑾</cp:lastModifiedBy>
  <cp:revision>162</cp:revision>
  <dcterms:created xsi:type="dcterms:W3CDTF">2023-08-08T13:17:00Z</dcterms:created>
  <dcterms:modified xsi:type="dcterms:W3CDTF">2026-03-30T14:09:54Z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198FF5DD21754C45ACF4F28C483F7B03_12</vt:lpwstr>
  </property>
  <property fmtid="{D5CDD505-2E9C-101B-9397-08002B2CF9AE}" pid="3" name="KSOProductBuildVer">
    <vt:lpwstr>2052-12.1.0.25225</vt:lpwstr>
  </property>
</Properties>
</file>