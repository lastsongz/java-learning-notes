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94" r:id="rId5"/>
    <p:sldId id="363" r:id="rId6"/>
    <p:sldId id="396" r:id="rId7"/>
    <p:sldId id="397" r:id="rId8"/>
    <p:sldId id="379" r:id="rId9"/>
    <p:sldId id="398" r:id="rId10"/>
    <p:sldId id="399" r:id="rId11"/>
  </p:sldIdLst>
  <p:sldSz cx="9144000" cy="5143500"/>
  <p:notesSz cx="5143500" cy="9144000"/>
  <p:custDataLst>
    <p:tags r:id="rId1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5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43988" y="122454"/>
            <a:ext cx="927824" cy="304693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>
            <a:off x="752558" y="541427"/>
            <a:ext cx="78175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2236" y="253569"/>
            <a:ext cx="388813" cy="178323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</p:grpSp>
      <p:sp>
        <p:nvSpPr>
          <p:cNvPr id="8" name="Rectangle 42"/>
          <p:cNvSpPr/>
          <p:nvPr userDrawn="1"/>
        </p:nvSpPr>
        <p:spPr>
          <a:xfrm>
            <a:off x="0" y="5061039"/>
            <a:ext cx="9144000" cy="8246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zh-CN" sz="1170">
              <a:solidFill>
                <a:srgbClr val="FFFFFF"/>
              </a:solidFill>
              <a:latin typeface="Arial" panose="020B0604020202020204" pitchFamily="34" charset="0"/>
              <a:ea typeface="思源黑体 CN Normal" panose="020B0400000000000000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/>
          <a:lstStyle>
            <a:lvl1pPr algn="ctr">
              <a:defRPr sz="240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12" y="4767265"/>
            <a:ext cx="2133655" cy="273844"/>
          </a:xfrm>
        </p:spPr>
        <p:txBody>
          <a:bodyPr/>
          <a:lstStyle/>
          <a:p>
            <a:fld id="{F61BD0C8-D35A-439E-96FB-C8D4A64305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83" y="4767265"/>
            <a:ext cx="2895676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372" y="4767265"/>
            <a:ext cx="2133655" cy="273844"/>
          </a:xfrm>
        </p:spPr>
        <p:txBody>
          <a:bodyPr/>
          <a:lstStyle/>
          <a:p>
            <a:fld id="{670F15A6-E82C-4E1E-834E-C415C51F7DF3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3603" y="213927"/>
            <a:ext cx="1037501" cy="340638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305646" y="789061"/>
            <a:ext cx="879232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7"/>
          <p:cNvGrpSpPr/>
          <p:nvPr userDrawn="1"/>
        </p:nvGrpSpPr>
        <p:grpSpPr bwMode="auto">
          <a:xfrm>
            <a:off x="315892" y="376577"/>
            <a:ext cx="388813" cy="178323"/>
            <a:chOff x="0" y="0"/>
            <a:chExt cx="1041399" cy="549275"/>
          </a:xfrm>
        </p:grpSpPr>
        <p:sp>
          <p:nvSpPr>
            <p:cNvPr id="16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05"/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05"/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05"/>
            </a:p>
          </p:txBody>
        </p:sp>
      </p:grpSp>
      <p:sp>
        <p:nvSpPr>
          <p:cNvPr id="19" name="Rectangle 42"/>
          <p:cNvSpPr/>
          <p:nvPr userDrawn="1"/>
        </p:nvSpPr>
        <p:spPr>
          <a:xfrm>
            <a:off x="0" y="5061039"/>
            <a:ext cx="9144001" cy="8246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285" tIns="28642" rIns="57285" bIns="28642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zh-CN" sz="1095">
              <a:solidFill>
                <a:srgbClr val="FFFFFF"/>
              </a:solidFill>
              <a:latin typeface="Arial" panose="020B0604020202020204" pitchFamily="34" charset="0"/>
              <a:ea typeface="思源黑体 CN Normal" panose="020B0400000000000000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685" y="-2300"/>
            <a:ext cx="9144000" cy="4663887"/>
          </a:xfrm>
          <a:prstGeom prst="rect">
            <a:avLst/>
          </a:prstGeom>
        </p:spPr>
      </p:pic>
      <p:sp>
        <p:nvSpPr>
          <p:cNvPr id="4" name="Object3"/>
          <p:cNvSpPr/>
          <p:nvPr/>
        </p:nvSpPr>
        <p:spPr>
          <a:xfrm>
            <a:off x="1897380" y="2671019"/>
            <a:ext cx="53492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r"/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</a:t>
            </a:r>
            <a:r>
              <a:rPr lang="zh-CN" alt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金三银四</a:t>
            </a:r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面试突击班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  <p:sp>
        <p:nvSpPr>
          <p:cNvPr id="11" name="Object3"/>
          <p:cNvSpPr/>
          <p:nvPr/>
        </p:nvSpPr>
        <p:spPr>
          <a:xfrm>
            <a:off x="1590675" y="3873074"/>
            <a:ext cx="5349240" cy="512064"/>
          </a:xfrm>
          <a:prstGeom prst="rect">
            <a:avLst/>
          </a:prstGeom>
          <a:noFill/>
        </p:spPr>
        <p:txBody>
          <a:bodyPr wrap="square" rtlCol="0" anchor="ctr"/>
          <a:p>
            <a:pPr algn="r"/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r>
              <a:rPr lang="zh-CN" alt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点正式开始！</a:t>
            </a:r>
            <a:endParaRPr lang="zh-CN" altLang="en-US" sz="18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Object3"/>
          <p:cNvSpPr/>
          <p:nvPr/>
        </p:nvSpPr>
        <p:spPr>
          <a:xfrm>
            <a:off x="681355" y="758190"/>
            <a:ext cx="7759065" cy="906780"/>
          </a:xfrm>
          <a:prstGeom prst="rect">
            <a:avLst/>
          </a:prstGeom>
          <a:noFill/>
        </p:spPr>
        <p:txBody>
          <a:bodyPr wrap="square" rtlCol="0" anchor="ctr"/>
          <a:p>
            <a:pPr>
              <a:lnSpc>
                <a:spcPct val="90000"/>
              </a:lnSpc>
            </a:pPr>
            <a:r>
              <a:rPr lang="zh-CN" altLang="en-US" sz="5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</a:t>
            </a:r>
            <a:r>
              <a:rPr lang="en-US" altLang="zh-CN" sz="5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IO</a:t>
            </a:r>
            <a:r>
              <a:rPr lang="zh-CN" altLang="en-US" sz="5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</a:t>
            </a:r>
            <a:r>
              <a:rPr lang="en-US" altLang="zh-CN" sz="5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Netty</a:t>
            </a:r>
            <a:r>
              <a:rPr lang="zh-CN" altLang="en-US" sz="5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面试题</a:t>
            </a:r>
            <a:endParaRPr sz="5000" b="1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28415" y="1766570"/>
            <a:ext cx="182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李瑾老师</a:t>
            </a: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" y="117475"/>
            <a:ext cx="144780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01d9609cac084c43b9fbc9119b17a5f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157971" cy="3426310"/>
          </a:xfrm>
          <a:prstGeom prst="rect">
            <a:avLst/>
          </a:prstGeom>
        </p:spPr>
      </p:pic>
      <p:pic>
        <p:nvPicPr>
          <p:cNvPr id="3" name="Object 2" descr="https://fynotefile.oss-cn-zhangjiakou.aliyuncs.com/fynote/fyfile/392/1/e06acedcd6c44249943ef2119ff824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552" y="3426310"/>
            <a:ext cx="2656448" cy="1742336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文本框 9"/>
          <p:cNvSpPr txBox="1"/>
          <p:nvPr/>
        </p:nvSpPr>
        <p:spPr>
          <a:xfrm>
            <a:off x="471805" y="619125"/>
            <a:ext cx="8235315" cy="3602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60000"/>
              </a:lnSpc>
              <a:buNone/>
            </a:pPr>
            <a:r>
              <a:rPr 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1、</a:t>
            </a:r>
            <a:r>
              <a:rPr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什么是</a:t>
            </a:r>
            <a:r>
              <a:rPr lang="en-US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Socket</a:t>
            </a:r>
            <a:r>
              <a:rPr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谈谈你的理解</a:t>
            </a:r>
            <a:r>
              <a:rPr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？</a:t>
            </a:r>
            <a:endParaRPr sz="20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</a:t>
            </a:r>
            <a:r>
              <a:rPr lang="zh-CN" altLang="en-US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</a:t>
            </a:r>
            <a:r>
              <a:rPr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说说HTTP、TCP、Socket的关系是什么？</a:t>
            </a:r>
            <a:endParaRPr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3</a:t>
            </a:r>
            <a:r>
              <a:rPr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、TCP为什么要三次握手，两次不行吗？为什么？</a:t>
            </a:r>
            <a:endParaRPr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4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</a:t>
            </a:r>
            <a:r>
              <a:rPr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TCP</a:t>
            </a:r>
            <a:r>
              <a:rPr 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为什么需要四次挥手？</a:t>
            </a:r>
            <a:endParaRPr lang="zh-CN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5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、说说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SYN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洪泛攻击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，以及如何预洪泛攻击！</a:t>
            </a:r>
            <a:endParaRPr lang="zh-CN" altLang="en-US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6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、深入讲一讲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TCP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的滑动窗口协议！</a:t>
            </a:r>
            <a:endParaRPr lang="zh-CN" altLang="en-US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7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、基于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Redis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的滑动窗口限流算法的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Java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代码实现</a:t>
            </a:r>
            <a:endParaRPr lang="zh-CN" altLang="en-US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endParaRPr lang="zh-CN" altLang="en-US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" y="39370"/>
            <a:ext cx="144780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4980" y="963295"/>
            <a:ext cx="5873750" cy="3447415"/>
          </a:xfrm>
          <a:prstGeom prst="rect">
            <a:avLst/>
          </a:prstGeom>
        </p:spPr>
      </p:pic>
      <p:sp>
        <p:nvSpPr>
          <p:cNvPr id="15" name="矩形 1"/>
          <p:cNvSpPr>
            <a:spLocks noChangeArrowheads="1"/>
          </p:cNvSpPr>
          <p:nvPr/>
        </p:nvSpPr>
        <p:spPr bwMode="auto">
          <a:xfrm>
            <a:off x="247650" y="2054225"/>
            <a:ext cx="2292985" cy="1826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7285" tIns="28642" rIns="57285" bIns="28642">
            <a:spAutoFit/>
          </a:bodyPr>
          <a:lstStyle>
            <a:lvl1pPr marL="342900" indent="-342900" eaLnBrk="0" hangingPunct="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11505" indent="-201930" eaLnBrk="0" hangingPunct="0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0" hangingPunct="0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430655" indent="-201930" eaLnBrk="0" hangingPunct="0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41500" indent="-201930" eaLnBrk="0" hangingPunct="0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298700" indent="-201930" eaLnBrk="0" fontAlgn="base" hangingPunct="0">
              <a:lnSpc>
                <a:spcPct val="90000"/>
              </a:lnSpc>
              <a:spcBef>
                <a:spcPts val="4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755900" indent="-201930" eaLnBrk="0" fontAlgn="base" hangingPunct="0">
              <a:lnSpc>
                <a:spcPct val="90000"/>
              </a:lnSpc>
              <a:spcBef>
                <a:spcPts val="4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213100" indent="-201930" eaLnBrk="0" fontAlgn="base" hangingPunct="0">
              <a:lnSpc>
                <a:spcPct val="90000"/>
              </a:lnSpc>
              <a:spcBef>
                <a:spcPts val="4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670300" indent="-201930" eaLnBrk="0" fontAlgn="base" hangingPunct="0">
              <a:lnSpc>
                <a:spcPct val="90000"/>
              </a:lnSpc>
              <a:spcBef>
                <a:spcPts val="4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None/>
            </a:pPr>
            <a:r>
              <a:rPr lang="en-US" sz="1275" b="1" dirty="0"/>
              <a:t>Socket</a:t>
            </a:r>
            <a:r>
              <a:rPr lang="zh-CN" altLang="en-US" sz="1275" b="1" dirty="0"/>
              <a:t>中的概念</a:t>
            </a:r>
            <a:endParaRPr lang="zh-CN" altLang="en-US" sz="1275" b="1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1275" dirty="0"/>
              <a:t>五元组（源</a:t>
            </a:r>
            <a:r>
              <a:rPr lang="en-US" altLang="zh-CN" sz="1275" dirty="0"/>
              <a:t>IP</a:t>
            </a:r>
            <a:r>
              <a:rPr lang="zh-CN" altLang="en-US" sz="1275" dirty="0"/>
              <a:t>、源端口、协议、目标</a:t>
            </a:r>
            <a:r>
              <a:rPr lang="en-US" altLang="zh-CN" sz="1275" dirty="0"/>
              <a:t>IP</a:t>
            </a:r>
            <a:r>
              <a:rPr lang="zh-CN" altLang="en-US" sz="1275" dirty="0"/>
              <a:t>、目标端口）</a:t>
            </a:r>
            <a:endParaRPr lang="zh-CN" altLang="en-US" sz="1275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sz="1275" dirty="0"/>
              <a:t>网络分层（</a:t>
            </a:r>
            <a:r>
              <a:rPr lang="zh-CN" altLang="en-US" sz="1275" dirty="0"/>
              <a:t>传输层与应用层之间</a:t>
            </a:r>
            <a:r>
              <a:rPr lang="zh-CN" sz="1275" dirty="0"/>
              <a:t>）</a:t>
            </a:r>
            <a:endParaRPr lang="zh-CN" sz="1275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1275" dirty="0"/>
              <a:t>IO</a:t>
            </a:r>
            <a:r>
              <a:rPr lang="zh-CN" altLang="en-US" sz="1275" dirty="0"/>
              <a:t>方式</a:t>
            </a:r>
            <a:endParaRPr lang="zh-CN" altLang="en-US" sz="1275" dirty="0"/>
          </a:p>
        </p:txBody>
      </p:sp>
      <p:sp>
        <p:nvSpPr>
          <p:cNvPr id="5" name="Object1"/>
          <p:cNvSpPr/>
          <p:nvPr/>
        </p:nvSpPr>
        <p:spPr>
          <a:xfrm>
            <a:off x="2293292" y="0"/>
            <a:ext cx="4376184" cy="566928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altLang="zh-CN" sz="2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Socket</a:t>
            </a:r>
            <a:endParaRPr lang="en-US" altLang="zh-CN" sz="21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" name="图片 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0" y="39370"/>
            <a:ext cx="1447800" cy="438150"/>
          </a:xfrm>
          <a:prstGeom prst="rect">
            <a:avLst/>
          </a:prstGeom>
        </p:spPr>
      </p:pic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146685" y="762000"/>
            <a:ext cx="2292985" cy="351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7285" tIns="28642" rIns="57285" bIns="28642">
            <a:spAutoFit/>
          </a:bodyPr>
          <a:lstStyle>
            <a:lvl1pPr marL="342900" indent="-342900" eaLnBrk="0" hangingPunct="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11505" indent="-201930" eaLnBrk="0" hangingPunct="0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0" hangingPunct="0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430655" indent="-201930" eaLnBrk="0" hangingPunct="0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41500" indent="-201930" eaLnBrk="0" hangingPunct="0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298700" indent="-201930" eaLnBrk="0" fontAlgn="base" hangingPunct="0">
              <a:lnSpc>
                <a:spcPct val="90000"/>
              </a:lnSpc>
              <a:spcBef>
                <a:spcPts val="4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755900" indent="-201930" eaLnBrk="0" fontAlgn="base" hangingPunct="0">
              <a:lnSpc>
                <a:spcPct val="90000"/>
              </a:lnSpc>
              <a:spcBef>
                <a:spcPts val="4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213100" indent="-201930" eaLnBrk="0" fontAlgn="base" hangingPunct="0">
              <a:lnSpc>
                <a:spcPct val="90000"/>
              </a:lnSpc>
              <a:spcBef>
                <a:spcPts val="4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670300" indent="-201930" eaLnBrk="0" fontAlgn="base" hangingPunct="0">
              <a:lnSpc>
                <a:spcPct val="90000"/>
              </a:lnSpc>
              <a:spcBef>
                <a:spcPts val="4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sz="1275" b="1" dirty="0"/>
              <a:t>Java</a:t>
            </a:r>
            <a:r>
              <a:rPr lang="zh-CN" altLang="en-US" sz="1275" b="1" dirty="0"/>
              <a:t>代码中的</a:t>
            </a:r>
            <a:r>
              <a:rPr lang="en-US" altLang="zh-CN" sz="1275" b="1" dirty="0"/>
              <a:t>Socket</a:t>
            </a:r>
            <a:endParaRPr lang="en-US" altLang="zh-CN" sz="1275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1"/>
          <p:cNvSpPr/>
          <p:nvPr/>
        </p:nvSpPr>
        <p:spPr>
          <a:xfrm>
            <a:off x="2293292" y="0"/>
            <a:ext cx="4376184" cy="566928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zh-CN" altLang="en-US" sz="2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网络模型</a:t>
            </a:r>
            <a:endParaRPr lang="zh-CN" altLang="en-US" sz="21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61" name="图片 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8795" y="939165"/>
            <a:ext cx="4101465" cy="3858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3" name="图片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196840" y="882650"/>
            <a:ext cx="3636010" cy="3874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" y="39370"/>
            <a:ext cx="1447800" cy="438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1"/>
          <p:cNvSpPr/>
          <p:nvPr/>
        </p:nvSpPr>
        <p:spPr>
          <a:xfrm>
            <a:off x="2293292" y="0"/>
            <a:ext cx="4376184" cy="566928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zh-CN" altLang="en-US" sz="2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网络发送的过程</a:t>
            </a:r>
            <a:endParaRPr lang="zh-CN" altLang="en-US" sz="21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029" name="图片 10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8690" y="137795"/>
            <a:ext cx="5108575" cy="500570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0" y="39370"/>
            <a:ext cx="1447800" cy="438150"/>
          </a:xfrm>
          <a:prstGeom prst="rect">
            <a:avLst/>
          </a:prstGeom>
        </p:spPr>
      </p:pic>
      <p:pic>
        <p:nvPicPr>
          <p:cNvPr id="2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2595" y="635000"/>
            <a:ext cx="2926715" cy="3874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2293292" y="0"/>
            <a:ext cx="437618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TCP</a:t>
            </a:r>
            <a:r>
              <a:rPr lang="zh-CN" altLang="en-US" sz="2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三次握手</a:t>
            </a:r>
            <a:endParaRPr lang="zh-CN" altLang="en-US" sz="21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735" y="594995"/>
            <a:ext cx="4224020" cy="432879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0" y="39370"/>
            <a:ext cx="1447800" cy="438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2293292" y="0"/>
            <a:ext cx="437618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TCP</a:t>
            </a:r>
            <a:r>
              <a:rPr lang="zh-CN" altLang="en-US" sz="2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的缓冲区</a:t>
            </a:r>
            <a:endParaRPr lang="zh-CN" altLang="en-US" sz="21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6" name="图片 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56335" y="1530350"/>
            <a:ext cx="7228205" cy="225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图片 3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0" y="39370"/>
            <a:ext cx="1447800" cy="438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2293292" y="0"/>
            <a:ext cx="437618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TCP</a:t>
            </a:r>
            <a:r>
              <a:rPr lang="zh-CN" altLang="en-US" sz="2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滑动窗口协议</a:t>
            </a:r>
            <a:endParaRPr lang="zh-CN" altLang="en-US" sz="21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4" name="图片 1" descr="https://images2015.cnblogs.com/blog/821276/201510/821276-20151016204148366-1896687312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19860" y="1096645"/>
            <a:ext cx="6762115" cy="3477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0" y="39370"/>
            <a:ext cx="1447800" cy="438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commondata" val="eyJoZGlkIjoiMWQzYzE3Njg5OWQxMWVjNWY2ZWE2MTQyMjJhNGZiYz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WPS 演示</Application>
  <PresentationFormat>On-screen Show (16:9)</PresentationFormat>
  <Paragraphs>36</Paragraphs>
  <Slides>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思源黑体 CN Normal</vt:lpstr>
      <vt:lpstr>微软雅黑</vt:lpstr>
      <vt:lpstr>微软雅黑</vt:lpstr>
      <vt:lpstr>仿宋</vt:lpstr>
      <vt:lpstr>Wingdings</vt:lpstr>
      <vt:lpstr>等线</vt:lpstr>
      <vt:lpstr>Arial Unicode MS</vt:lpstr>
      <vt:lpstr>黑体</vt:lpstr>
      <vt:lpstr>等线 Light</vt:lpstr>
      <vt:lpstr>思源黑体 CN Normal</vt:lpstr>
      <vt:lpstr>清雅黑体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李瑾</cp:lastModifiedBy>
  <cp:revision>191</cp:revision>
  <dcterms:created xsi:type="dcterms:W3CDTF">2023-08-08T13:17:00Z</dcterms:created>
  <dcterms:modified xsi:type="dcterms:W3CDTF">2026-04-21T06:06:39Z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198FF5DD21754C45ACF4F28C483F7B03_12</vt:lpwstr>
  </property>
  <property fmtid="{D5CDD505-2E9C-101B-9397-08002B2CF9AE}" pid="3" name="KSOProductBuildVer">
    <vt:lpwstr>2052-12.1.0.25865</vt:lpwstr>
  </property>
</Properties>
</file>