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40" r:id="rId5"/>
    <p:sldId id="294" r:id="rId6"/>
    <p:sldId id="344" r:id="rId7"/>
    <p:sldId id="345" r:id="rId8"/>
    <p:sldId id="346" r:id="rId9"/>
    <p:sldId id="347" r:id="rId10"/>
    <p:sldId id="350" r:id="rId11"/>
    <p:sldId id="349" r:id="rId12"/>
    <p:sldId id="352" r:id="rId13"/>
    <p:sldId id="351" r:id="rId14"/>
    <p:sldId id="353" r:id="rId15"/>
    <p:sldId id="354" r:id="rId16"/>
    <p:sldId id="355" r:id="rId17"/>
    <p:sldId id="365" r:id="rId18"/>
    <p:sldId id="363" r:id="rId19"/>
    <p:sldId id="364" r:id="rId20"/>
    <p:sldId id="366" r:id="rId21"/>
    <p:sldId id="367" r:id="rId22"/>
    <p:sldId id="369" r:id="rId23"/>
    <p:sldId id="356" r:id="rId24"/>
    <p:sldId id="357" r:id="rId25"/>
    <p:sldId id="359" r:id="rId26"/>
    <p:sldId id="360" r:id="rId27"/>
    <p:sldId id="361" r:id="rId28"/>
    <p:sldId id="362" r:id="rId29"/>
    <p:sldId id="370" r:id="rId30"/>
    <p:sldId id="371" r:id="rId31"/>
    <p:sldId id="372" r:id="rId32"/>
    <p:sldId id="373" r:id="rId33"/>
  </p:sldIdLst>
  <p:sldSz cx="9144000" cy="5143500"/>
  <p:notesSz cx="5143500" cy="9144000"/>
  <p:custDataLst>
    <p:tags r:id="rId37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gs" Target="tags/tag5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43988" y="122454"/>
            <a:ext cx="927824" cy="304693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>
            <a:off x="752558" y="541427"/>
            <a:ext cx="78175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2236" y="253569"/>
            <a:ext cx="388813" cy="178323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8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8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80"/>
            </a:p>
          </p:txBody>
        </p:sp>
      </p:grpSp>
      <p:sp>
        <p:nvSpPr>
          <p:cNvPr id="8" name="Rectangle 42"/>
          <p:cNvSpPr/>
          <p:nvPr userDrawn="1"/>
        </p:nvSpPr>
        <p:spPr>
          <a:xfrm>
            <a:off x="0" y="5061039"/>
            <a:ext cx="9144000" cy="8246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endParaRPr lang="zh-CN" altLang="zh-CN" sz="1170">
              <a:solidFill>
                <a:srgbClr val="FFFFFF"/>
              </a:solidFill>
              <a:latin typeface="Arial" panose="020B0604020202020204" pitchFamily="34" charset="0"/>
              <a:ea typeface="思源黑体 CN Normal" panose="020B0400000000000000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/>
          <a:lstStyle>
            <a:lvl1pPr algn="ctr">
              <a:defRPr sz="240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2d55bbbf0a794d2daff265f2a2ef259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00"/>
            <a:ext cx="9144000" cy="4663887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764056" y="920560"/>
            <a:ext cx="7615888" cy="9069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90000"/>
              </a:lnSpc>
            </a:pPr>
            <a:r>
              <a:rPr lang="en-US" sz="5000" b="1" kern="0" spc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endParaRPr lang="en-US" sz="5000" b="1" kern="0" spc="7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>
              <a:lnSpc>
                <a:spcPct val="90000"/>
              </a:lnSpc>
            </a:pPr>
            <a:r>
              <a:rPr lang="zh-CN" altLang="en-US" sz="1500" dirty="0"/>
              <a:t>李瑾老师</a:t>
            </a:r>
            <a:endParaRPr lang="zh-CN" altLang="en-US" sz="1500" dirty="0"/>
          </a:p>
        </p:txBody>
      </p:sp>
      <p:sp>
        <p:nvSpPr>
          <p:cNvPr id="4" name="Object3"/>
          <p:cNvSpPr/>
          <p:nvPr/>
        </p:nvSpPr>
        <p:spPr>
          <a:xfrm>
            <a:off x="1897380" y="2671019"/>
            <a:ext cx="53492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r"/>
            <a:r>
              <a:rPr 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</a:t>
            </a:r>
            <a:r>
              <a:rPr lang="zh-CN" alt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金三银四</a:t>
            </a:r>
            <a:r>
              <a:rPr 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面试突击班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2E9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2E9FFF"/>
            </a:solidFill>
            <a:prstDash val="solid"/>
          </a:ln>
        </p:spPr>
      </p:sp>
      <p:pic>
        <p:nvPicPr>
          <p:cNvPr id="7" name="Object 6" descr="https://fynotefile.oss-cn-zhangjiakou.aliyuncs.com/fynote/fyfile/392/1/8486aefb265a42c4adf6d8938809b6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80" y="-2300"/>
            <a:ext cx="2372320" cy="1829940"/>
          </a:xfrm>
          <a:prstGeom prst="rect">
            <a:avLst/>
          </a:prstGeom>
        </p:spPr>
      </p:pic>
      <p:pic>
        <p:nvPicPr>
          <p:cNvPr id="8" name="Object 7" descr="https://fynotefile.oss-cn-zhangjiakou.aliyuncs.com/fynote/fyfile/392/1/9942b3bd883144a4ba9eba285821ce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426"/>
            <a:ext cx="1495032" cy="2480583"/>
          </a:xfrm>
          <a:prstGeom prst="rect">
            <a:avLst/>
          </a:prstGeom>
        </p:spPr>
      </p:pic>
      <p:pic>
        <p:nvPicPr>
          <p:cNvPr id="9" name="Object 8" descr="https://fynotefile.oss-cn-zhangjiakou.aliyuncs.com/fynote/fyfile/392/1/38ad7252fd0c4accabf65b2b6e4a09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442" y="2886332"/>
            <a:ext cx="266271" cy="266271"/>
          </a:xfrm>
          <a:prstGeom prst="rect">
            <a:avLst/>
          </a:prstGeom>
        </p:spPr>
      </p:pic>
      <p:sp>
        <p:nvSpPr>
          <p:cNvPr id="11" name="Object3"/>
          <p:cNvSpPr/>
          <p:nvPr/>
        </p:nvSpPr>
        <p:spPr>
          <a:xfrm>
            <a:off x="1590675" y="3873074"/>
            <a:ext cx="5349240" cy="512064"/>
          </a:xfrm>
          <a:prstGeom prst="rect">
            <a:avLst/>
          </a:prstGeom>
          <a:noFill/>
        </p:spPr>
        <p:txBody>
          <a:bodyPr wrap="square" rtlCol="0" anchor="ctr"/>
          <a:p>
            <a:pPr algn="r"/>
            <a:r>
              <a:rPr 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r>
              <a:rPr lang="zh-CN" alt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点正式开始！</a:t>
            </a:r>
            <a:endParaRPr lang="zh-CN" altLang="en-US" sz="18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2d55bbbf0a794d2daff265f2a2ef259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00"/>
            <a:ext cx="9144000" cy="4663887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764056" y="920560"/>
            <a:ext cx="7615888" cy="9069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90000"/>
              </a:lnSpc>
            </a:pPr>
            <a:r>
              <a:rPr lang="en-US" sz="5000" b="1" kern="0" spc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r>
              <a:rPr lang="zh-CN" altLang="en-US" sz="5000" b="1" kern="0" spc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</a:t>
            </a:r>
            <a:r>
              <a:rPr lang="en-US" altLang="zh-CN" sz="5000" b="1" kern="0" spc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5000" b="1" kern="0" spc="7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>
              <a:lnSpc>
                <a:spcPct val="90000"/>
              </a:lnSpc>
            </a:pPr>
            <a:endParaRPr lang="zh-CN" alt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2E9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2E9FFF"/>
            </a:solidFill>
            <a:prstDash val="solid"/>
          </a:ln>
        </p:spPr>
      </p:sp>
      <p:pic>
        <p:nvPicPr>
          <p:cNvPr id="7" name="Object 6" descr="https://fynotefile.oss-cn-zhangjiakou.aliyuncs.com/fynote/fyfile/392/1/8486aefb265a42c4adf6d8938809b6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80" y="-2300"/>
            <a:ext cx="2372320" cy="1829940"/>
          </a:xfrm>
          <a:prstGeom prst="rect">
            <a:avLst/>
          </a:prstGeom>
        </p:spPr>
      </p:pic>
      <p:pic>
        <p:nvPicPr>
          <p:cNvPr id="8" name="Object 7" descr="https://fynotefile.oss-cn-zhangjiakou.aliyuncs.com/fynote/fyfile/392/1/9942b3bd883144a4ba9eba285821ce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426"/>
            <a:ext cx="1495032" cy="2480583"/>
          </a:xfrm>
          <a:prstGeom prst="rect">
            <a:avLst/>
          </a:prstGeom>
        </p:spPr>
      </p:pic>
      <p:pic>
        <p:nvPicPr>
          <p:cNvPr id="9" name="Object 8" descr="https://fynotefile.oss-cn-zhangjiakou.aliyuncs.com/fynote/fyfile/392/1/38ad7252fd0c4accabf65b2b6e4a09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442" y="2886332"/>
            <a:ext cx="266271" cy="26627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014345" y="2213610"/>
            <a:ext cx="299085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2000" b="1" i="0">
                <a:solidFill>
                  <a:srgbClr val="333333"/>
                </a:solidFill>
                <a:latin typeface="Open Sans"/>
                <a:ea typeface="Open Sans"/>
              </a:rPr>
              <a:t>Redis</a:t>
            </a:r>
            <a:r>
              <a:rPr lang="zh-CN" altLang="en-US" sz="2000" b="1" i="0">
                <a:solidFill>
                  <a:srgbClr val="333333"/>
                </a:solidFill>
                <a:latin typeface="Open Sans"/>
                <a:ea typeface="Open Sans"/>
              </a:rPr>
              <a:t>基础与底层原理</a:t>
            </a:r>
            <a:endParaRPr lang="en-US" altLang="zh-CN" sz="2000" b="1" i="0">
              <a:solidFill>
                <a:srgbClr val="333333"/>
              </a:solidFill>
              <a:latin typeface="Open Sans"/>
              <a:ea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01d9609cac084c43b9fbc9119b17a5f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157971" cy="3426310"/>
          </a:xfrm>
          <a:prstGeom prst="rect">
            <a:avLst/>
          </a:prstGeom>
        </p:spPr>
      </p:pic>
      <p:pic>
        <p:nvPicPr>
          <p:cNvPr id="3" name="Object 2" descr="https://fynotefile.oss-cn-zhangjiakou.aliyuncs.com/fynote/fyfile/392/1/e06acedcd6c44249943ef2119ff824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552" y="3426310"/>
            <a:ext cx="2656448" cy="1742336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文本框 9"/>
          <p:cNvSpPr txBox="1"/>
          <p:nvPr/>
        </p:nvSpPr>
        <p:spPr>
          <a:xfrm>
            <a:off x="471805" y="925195"/>
            <a:ext cx="7212330" cy="3712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60000"/>
              </a:lnSpc>
              <a:buNone/>
            </a:pPr>
            <a:r>
              <a:rPr lang="zh-CN"/>
              <a:t>1、</a:t>
            </a:r>
            <a:r>
              <a:rPr lang="en-US" altLang="zh-CN"/>
              <a:t>Redis</a:t>
            </a:r>
            <a:r>
              <a:rPr lang="zh-CN" altLang="en-US"/>
              <a:t>和</a:t>
            </a:r>
            <a:r>
              <a:rPr lang="en-US" altLang="zh-CN"/>
              <a:t>HashMap</a:t>
            </a:r>
            <a:r>
              <a:rPr lang="zh-CN" altLang="en-US"/>
              <a:t>在结构上有什么区别？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Redis</a:t>
            </a:r>
            <a:r>
              <a:rPr lang="zh-CN" altLang="en-US"/>
              <a:t>有哪些数据类型？底层是如何实现的？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Redis</a:t>
            </a:r>
            <a:r>
              <a:rPr lang="zh-CN" altLang="en-US"/>
              <a:t>的持久化机制有哪些？</a:t>
            </a:r>
            <a:r>
              <a:rPr lang="en-US" altLang="zh-CN"/>
              <a:t>RDB</a:t>
            </a:r>
            <a:r>
              <a:rPr lang="zh-CN" altLang="en-US"/>
              <a:t>和</a:t>
            </a:r>
            <a:r>
              <a:rPr lang="en-US" altLang="zh-CN"/>
              <a:t>AOF</a:t>
            </a:r>
            <a:r>
              <a:rPr lang="zh-CN" altLang="en-US"/>
              <a:t>有什么区别？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Redis</a:t>
            </a:r>
            <a:r>
              <a:rPr lang="zh-CN" altLang="en-US"/>
              <a:t>的过期键删除策略有哪些？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en-US" altLang="zh-CN"/>
              <a:t>Redis</a:t>
            </a:r>
            <a:r>
              <a:rPr lang="zh-CN" altLang="en-US"/>
              <a:t>的内存淘汰策略有哪些？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en-US" altLang="zh-CN"/>
              <a:t>Redis</a:t>
            </a:r>
            <a:r>
              <a:rPr lang="zh-CN" altLang="en-US"/>
              <a:t>的底层数据结构有哪些？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7</a:t>
            </a:r>
            <a:r>
              <a:rPr lang="zh-CN" altLang="en-US"/>
              <a:t>、</a:t>
            </a:r>
            <a:r>
              <a:rPr lang="en-US" altLang="zh-CN"/>
              <a:t>Redis</a:t>
            </a:r>
            <a:r>
              <a:rPr lang="zh-CN" altLang="en-US"/>
              <a:t>是单线程的吗？为什么这么快？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8</a:t>
            </a:r>
            <a:r>
              <a:rPr lang="zh-CN" altLang="en-US"/>
              <a:t>、</a:t>
            </a:r>
            <a:r>
              <a:rPr lang="en-US" altLang="zh-CN"/>
              <a:t>Redis</a:t>
            </a:r>
            <a:r>
              <a:rPr lang="zh-CN" altLang="en-US"/>
              <a:t>的事务能保证原子性吗？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35785" y="135890"/>
            <a:ext cx="676338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2000" b="1" i="0">
                <a:solidFill>
                  <a:srgbClr val="333333"/>
                </a:solidFill>
                <a:latin typeface="Open Sans"/>
                <a:ea typeface="Open Sans"/>
              </a:rPr>
              <a:t>Redis</a:t>
            </a:r>
            <a:r>
              <a:rPr lang="zh-CN" altLang="en-US" sz="2000" b="1" i="0">
                <a:solidFill>
                  <a:srgbClr val="333333"/>
                </a:solidFill>
                <a:latin typeface="Open Sans"/>
                <a:ea typeface="宋体" panose="02010600030101010101" pitchFamily="2" charset="-122"/>
              </a:rPr>
              <a:t>面试</a:t>
            </a:r>
            <a:r>
              <a:rPr lang="en-US" altLang="zh-CN" sz="2000" b="1" i="0">
                <a:solidFill>
                  <a:srgbClr val="333333"/>
                </a:solidFill>
                <a:latin typeface="Open Sans"/>
                <a:ea typeface="宋体" panose="02010600030101010101" pitchFamily="2" charset="-122"/>
              </a:rPr>
              <a:t>1</a:t>
            </a:r>
            <a:r>
              <a:rPr lang="zh-CN" altLang="en-US" sz="2000" b="1" i="0">
                <a:solidFill>
                  <a:srgbClr val="333333"/>
                </a:solidFill>
                <a:latin typeface="Open Sans"/>
                <a:ea typeface="宋体" panose="02010600030101010101" pitchFamily="2" charset="-122"/>
              </a:rPr>
              <a:t>：</a:t>
            </a:r>
            <a:r>
              <a:rPr lang="en-US" altLang="zh-CN" sz="2000" b="1">
                <a:solidFill>
                  <a:srgbClr val="333333"/>
                </a:solidFill>
                <a:latin typeface="Open Sans"/>
                <a:ea typeface="Open Sans"/>
                <a:sym typeface="+mn-ea"/>
              </a:rPr>
              <a:t>Redis</a:t>
            </a:r>
            <a:r>
              <a:rPr lang="zh-CN" altLang="en-US" sz="2000" b="1">
                <a:solidFill>
                  <a:srgbClr val="333333"/>
                </a:solidFill>
                <a:latin typeface="Open Sans"/>
                <a:ea typeface="Open Sans"/>
                <a:sym typeface="+mn-ea"/>
              </a:rPr>
              <a:t>基础与底层原理</a:t>
            </a:r>
            <a:endParaRPr lang="zh-CN" altLang="en-US" sz="2000" b="1" i="0">
              <a:solidFill>
                <a:srgbClr val="333333"/>
              </a:solidFill>
              <a:latin typeface="Open Sans"/>
              <a:ea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2" y="0"/>
            <a:ext cx="4376184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zh-CN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的基本数据类型</a:t>
            </a:r>
            <a:endParaRPr lang="en-US" sz="1500" dirty="0"/>
          </a:p>
        </p:txBody>
      </p:sp>
      <p:pic>
        <p:nvPicPr>
          <p:cNvPr id="1027" name="Picture 3" descr="E:\VIP课\Redis\img\基本数据类型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876" y="430977"/>
            <a:ext cx="5896463" cy="465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2" y="0"/>
            <a:ext cx="4376184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zh-CN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的高级数据结构</a:t>
            </a:r>
            <a:endParaRPr lang="en-US" sz="15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608" y="1138298"/>
            <a:ext cx="7224808" cy="312139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53077" y="685045"/>
            <a:ext cx="1364476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Bitmaps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2" y="0"/>
            <a:ext cx="4376184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zh-CN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的高级数据结构</a:t>
            </a:r>
            <a:endParaRPr lang="en-US" sz="1500" dirty="0"/>
          </a:p>
        </p:txBody>
      </p:sp>
      <p:sp>
        <p:nvSpPr>
          <p:cNvPr id="3" name="矩形 2"/>
          <p:cNvSpPr/>
          <p:nvPr/>
        </p:nvSpPr>
        <p:spPr>
          <a:xfrm>
            <a:off x="384154" y="595011"/>
            <a:ext cx="831436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HyperLogLog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（字符串类型）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大型网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站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每个网页每天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的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UV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数</a:t>
            </a:r>
            <a:r>
              <a:rPr lang="zh-CN" altLang="en-US" sz="16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据</a:t>
            </a:r>
            <a:r>
              <a:rPr lang="en-US" altLang="zh-CN" sz="16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(</a:t>
            </a:r>
            <a:r>
              <a:rPr lang="zh-CN" altLang="en-US" sz="1600" dirty="0"/>
              <a:t>独立访</a:t>
            </a:r>
            <a:r>
              <a:rPr lang="zh-CN" altLang="en-US" sz="1600" dirty="0" smtClean="0"/>
              <a:t>客</a:t>
            </a:r>
            <a:r>
              <a:rPr lang="en-US" altLang="zh-CN" sz="1600" dirty="0" smtClean="0"/>
              <a:t>&lt;Unique Visitor</a:t>
            </a:r>
            <a:r>
              <a:rPr lang="en-US" altLang="zh-CN" sz="1600" dirty="0"/>
              <a:t>&gt;</a:t>
            </a:r>
            <a:r>
              <a:rPr lang="en-US" altLang="zh-CN" sz="16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)</a:t>
            </a: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然后让你来开发这个统计模块，你会如何实现</a:t>
            </a: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？</a:t>
            </a:r>
            <a:r>
              <a:rPr lang="en-US" altLang="zh-CN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(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尽</a:t>
            </a:r>
            <a:r>
              <a:rPr lang="zh-CN" altLang="en-US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量少的占用存储空间</a:t>
            </a:r>
            <a:r>
              <a:rPr lang="en-US" altLang="zh-CN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)</a:t>
            </a:r>
            <a:endParaRPr lang="zh-CN" altLang="zh-CN" sz="1600" dirty="0"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3307" y="1887673"/>
            <a:ext cx="80486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Redis </a:t>
            </a:r>
            <a:r>
              <a:rPr lang="zh-CN" altLang="en-US" dirty="0"/>
              <a:t>提供了 </a:t>
            </a:r>
            <a:r>
              <a:rPr lang="en-US" altLang="zh-CN" dirty="0"/>
              <a:t>HyperLogLog </a:t>
            </a:r>
            <a:r>
              <a:rPr lang="zh-CN" altLang="en-US" dirty="0"/>
              <a:t>数据结构就是用来解决这种统计问题的。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HyperLogLog </a:t>
            </a:r>
            <a:r>
              <a:rPr lang="zh-CN" altLang="en-US" dirty="0"/>
              <a:t>提供不精确的去重计数方案，虽然不精确但是也不是非常不精确，标准误差是 </a:t>
            </a:r>
            <a:r>
              <a:rPr lang="en-US" altLang="zh-CN" dirty="0"/>
              <a:t>0.81%</a:t>
            </a:r>
            <a:r>
              <a:rPr lang="zh-CN" altLang="en-US" dirty="0"/>
              <a:t>，这样的精确度已经可以满足上面的 </a:t>
            </a:r>
            <a:r>
              <a:rPr lang="en-US" altLang="zh-CN" dirty="0"/>
              <a:t>UV</a:t>
            </a:r>
            <a:r>
              <a:rPr lang="zh-CN" altLang="en-US" dirty="0"/>
              <a:t>统计需求了。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2" y="0"/>
            <a:ext cx="4376184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zh-CN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的高级数据结构</a:t>
            </a:r>
            <a:endParaRPr lang="en-US" sz="1500" dirty="0"/>
          </a:p>
        </p:txBody>
      </p:sp>
      <p:sp>
        <p:nvSpPr>
          <p:cNvPr id="3" name="矩形 2"/>
          <p:cNvSpPr/>
          <p:nvPr/>
        </p:nvSpPr>
        <p:spPr>
          <a:xfrm>
            <a:off x="384154" y="685045"/>
            <a:ext cx="8314369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GEO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Redis 3.2</a:t>
            </a:r>
            <a:r>
              <a:rPr lang="zh-CN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版本提供了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GEO(</a:t>
            </a:r>
            <a:r>
              <a:rPr lang="zh-CN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地理信息定位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)</a:t>
            </a:r>
            <a:r>
              <a:rPr lang="zh-CN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功能，支持存储地理位置信息用来实现诸如附近位置、摇一摇这类依赖于地理位置信息的功能</a:t>
            </a:r>
            <a:r>
              <a:rPr lang="zh-CN" altLang="zh-CN" sz="1600" dirty="0" smtClean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。</a:t>
            </a:r>
            <a:endParaRPr lang="zh-CN" altLang="zh-CN" sz="1600" dirty="0"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0139" y="1758967"/>
            <a:ext cx="2728323" cy="287875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86414" y="2340285"/>
            <a:ext cx="539927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地图元素的位置数据使用二维的经纬度表示</a:t>
            </a:r>
            <a:endParaRPr lang="zh-CN" altLang="en-US" sz="1400" dirty="0"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经度范围 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(-180, 180)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，纬度范围 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(-90, 90)</a:t>
            </a:r>
            <a:endParaRPr lang="en-US" altLang="zh-CN" sz="1400" dirty="0"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纬度正负以赤道为界，北正南负</a:t>
            </a:r>
            <a:endParaRPr lang="zh-CN" altLang="en-US" sz="1400" dirty="0"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经度正负以本初子午线 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(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英国格林尼治天文台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) 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为界，东正西负。</a:t>
            </a:r>
            <a:endParaRPr lang="zh-CN" altLang="zh-CN" sz="1400" dirty="0"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15" y="4077385"/>
            <a:ext cx="60022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业界比较通用的地理位置距离排序算法是 </a:t>
            </a:r>
            <a:r>
              <a:rPr lang="en-US" altLang="zh-CN" dirty="0"/>
              <a:t>GeoHash </a:t>
            </a:r>
            <a:r>
              <a:rPr lang="zh-CN" altLang="en-US" dirty="0"/>
              <a:t>算</a:t>
            </a:r>
            <a:r>
              <a:rPr lang="zh-CN" altLang="en-US" dirty="0" smtClean="0"/>
              <a:t>法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smtClean="0"/>
              <a:t>Redis </a:t>
            </a:r>
            <a:r>
              <a:rPr lang="zh-CN" altLang="en-US" dirty="0"/>
              <a:t>也使用 </a:t>
            </a:r>
            <a:r>
              <a:rPr lang="en-US" altLang="zh-CN" dirty="0"/>
              <a:t>GeoHash </a:t>
            </a:r>
            <a:r>
              <a:rPr lang="zh-CN" altLang="en-US" dirty="0"/>
              <a:t>算法。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012126" y="42899"/>
            <a:ext cx="575154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en-US" altLang="zh-CN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</a:t>
            </a:r>
            <a:r>
              <a:rPr lang="en-US" altLang="zh-CN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RDB</a:t>
            </a:r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导致的数据丢失问题</a:t>
            </a:r>
            <a:endParaRPr lang="en-US" sz="1515" dirty="0"/>
          </a:p>
        </p:txBody>
      </p:sp>
      <p:pic>
        <p:nvPicPr>
          <p:cNvPr id="2050" name="Picture 2" descr="E:\VIP课\Redis\img\快照导致数据丢失的问题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176" y="828668"/>
            <a:ext cx="6874975" cy="408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1713915" y="97565"/>
            <a:ext cx="637801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en-US" altLang="zh-CN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中的</a:t>
            </a:r>
            <a:r>
              <a:rPr lang="en-US" altLang="zh-CN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AOF</a:t>
            </a:r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持久化</a:t>
            </a:r>
            <a:endParaRPr lang="en-US" sz="1515" dirty="0"/>
          </a:p>
        </p:txBody>
      </p:sp>
      <p:pic>
        <p:nvPicPr>
          <p:cNvPr id="1026" name="Picture 2" descr="E:\VIP课\Redis\img\AOF日志持久化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17" y="830948"/>
            <a:ext cx="8371193" cy="419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1454/1/ad48039f2d0c40ffab8238cb2135b95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416" y="271525"/>
            <a:ext cx="1133324" cy="327435"/>
          </a:xfrm>
          <a:prstGeom prst="rect">
            <a:avLst/>
          </a:prstGeom>
        </p:spPr>
      </p:pic>
      <p:sp>
        <p:nvSpPr>
          <p:cNvPr id="8" name="Object7"/>
          <p:cNvSpPr/>
          <p:nvPr/>
        </p:nvSpPr>
        <p:spPr>
          <a:xfrm>
            <a:off x="1664037" y="91133"/>
            <a:ext cx="575154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en-US" altLang="zh-CN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的原理</a:t>
            </a:r>
            <a:endParaRPr lang="en-US" sz="1515" dirty="0"/>
          </a:p>
        </p:txBody>
      </p:sp>
      <p:sp>
        <p:nvSpPr>
          <p:cNvPr id="11" name="矩形 2"/>
          <p:cNvSpPr/>
          <p:nvPr/>
        </p:nvSpPr>
        <p:spPr>
          <a:xfrm>
            <a:off x="5515641" y="1032518"/>
            <a:ext cx="3057123" cy="2695575"/>
          </a:xfrm>
          <a:prstGeom prst="rect">
            <a:avLst/>
          </a:prstGeom>
          <a:noFill/>
          <a:ln w="9525">
            <a:noFill/>
          </a:ln>
        </p:spPr>
        <p:txBody>
          <a:bodyPr wrap="square" lIns="87258" tIns="43629" rIns="87258" bIns="43629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63220" lvl="1" indent="-342900">
              <a:lnSpc>
                <a:spcPct val="15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en-US" altLang="zh-CN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Redis</a:t>
            </a: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内存淘汰策略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06070" lvl="1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altLang="zh-CN" sz="1425" dirty="0" smtClean="0"/>
              <a:t>noeviction	--</a:t>
            </a:r>
            <a:r>
              <a:rPr lang="zh-CN" altLang="en-US" sz="1425" dirty="0" smtClean="0"/>
              <a:t>默认</a:t>
            </a:r>
            <a:endParaRPr lang="en-US" altLang="zh-CN" sz="1425" dirty="0" smtClean="0"/>
          </a:p>
          <a:p>
            <a:pPr marL="306070" lvl="1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altLang="zh-CN" sz="1425" dirty="0" smtClean="0"/>
              <a:t>volatile-lru</a:t>
            </a:r>
            <a:endParaRPr lang="en-US" altLang="zh-CN" sz="1425" dirty="0" smtClean="0"/>
          </a:p>
          <a:p>
            <a:pPr marL="306070" lvl="1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altLang="zh-CN" sz="1425" dirty="0" smtClean="0"/>
              <a:t>volatile-ttl</a:t>
            </a:r>
            <a:endParaRPr lang="en-US" altLang="zh-CN" sz="1425" dirty="0" smtClean="0"/>
          </a:p>
          <a:p>
            <a:pPr marL="306070" lvl="1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altLang="zh-CN" sz="1425" dirty="0" smtClean="0"/>
              <a:t>volatile-random</a:t>
            </a:r>
            <a:endParaRPr lang="en-US" altLang="zh-CN" sz="1425" dirty="0" smtClean="0"/>
          </a:p>
          <a:p>
            <a:pPr marL="306070" lvl="1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altLang="zh-CN" sz="1425" dirty="0" smtClean="0"/>
              <a:t>allkeys-lru</a:t>
            </a:r>
            <a:endParaRPr lang="en-US" altLang="zh-CN" sz="1425" dirty="0" smtClean="0"/>
          </a:p>
          <a:p>
            <a:pPr marL="306070" lvl="1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altLang="zh-CN" sz="1425" dirty="0" smtClean="0"/>
              <a:t>allkeys-random</a:t>
            </a:r>
            <a:endParaRPr lang="en-US" altLang="zh-CN" sz="1425" dirty="0" smtClean="0"/>
          </a:p>
          <a:p>
            <a:pPr marL="306070" lvl="1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altLang="zh-CN" sz="1425" dirty="0" smtClean="0"/>
              <a:t>volatile-lfu</a:t>
            </a:r>
            <a:endParaRPr lang="en-US" altLang="zh-CN" sz="1425" dirty="0" smtClean="0"/>
          </a:p>
          <a:p>
            <a:pPr marL="306070" lvl="1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altLang="zh-CN" sz="1425" dirty="0" smtClean="0"/>
              <a:t>allkeys-lfu</a:t>
            </a:r>
            <a:endParaRPr lang="en-US" altLang="zh-CN" sz="1425" dirty="0"/>
          </a:p>
          <a:p>
            <a:pPr marL="306070" lvl="1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altLang="zh-CN" sz="1425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06070" lvl="1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altLang="zh-CN" sz="1425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8155" y="1074420"/>
            <a:ext cx="3420745" cy="1685925"/>
          </a:xfrm>
          <a:prstGeom prst="rect">
            <a:avLst/>
          </a:prstGeom>
          <a:noFill/>
          <a:ln w="9525">
            <a:noFill/>
          </a:ln>
        </p:spPr>
        <p:txBody>
          <a:bodyPr wrap="square" lIns="87258" tIns="43629" rIns="87258" bIns="43629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63220" lvl="1" indent="-342900">
              <a:lnSpc>
                <a:spcPct val="15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en-US" altLang="zh-CN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Redis</a:t>
            </a: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过期键删除策略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06070" lvl="1">
              <a:lnSpc>
                <a:spcPct val="15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1. </a:t>
            </a:r>
            <a:r>
              <a:rPr lang="zh-CN" altLang="en-US" sz="1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定时删除：设置定时器，立即删除</a:t>
            </a:r>
            <a:endParaRPr lang="zh-CN" altLang="en-US" sz="14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306070" lvl="1">
              <a:lnSpc>
                <a:spcPct val="15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2. </a:t>
            </a:r>
            <a:r>
              <a:rPr lang="zh-CN" altLang="en-US" sz="1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惰性删除：访问时检查，过期才删</a:t>
            </a:r>
            <a:endParaRPr lang="zh-CN" altLang="en-US" sz="14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306070" lvl="1">
              <a:lnSpc>
                <a:spcPct val="15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3. </a:t>
            </a:r>
            <a:r>
              <a:rPr lang="zh-CN" altLang="en-US" sz="1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定期删除：定期扫描删除</a:t>
            </a:r>
            <a:endParaRPr lang="zh-CN" altLang="en-US" sz="14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marL="20320" lvl="1" indent="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None/>
            </a:pPr>
            <a:endParaRPr lang="en-US" altLang="zh-CN" sz="1425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3" y="5093"/>
            <a:ext cx="4376183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数据结构和内部编码</a:t>
            </a:r>
            <a:endParaRPr lang="en-US" sz="1515" dirty="0"/>
          </a:p>
        </p:txBody>
      </p:sp>
      <p:pic>
        <p:nvPicPr>
          <p:cNvPr id="9" name="Picture 3" descr="E:\VIP课\Redis\img\基本数据类型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112" y="511863"/>
            <a:ext cx="3981642" cy="314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785" y="3821472"/>
            <a:ext cx="6845269" cy="1188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2"/>
          <p:cNvSpPr/>
          <p:nvPr/>
        </p:nvSpPr>
        <p:spPr>
          <a:xfrm>
            <a:off x="235841" y="677968"/>
            <a:ext cx="3376535" cy="2767965"/>
          </a:xfrm>
          <a:prstGeom prst="rect">
            <a:avLst/>
          </a:prstGeom>
          <a:noFill/>
          <a:ln w="9525">
            <a:noFill/>
          </a:ln>
        </p:spPr>
        <p:txBody>
          <a:bodyPr wrap="square" lIns="87258" tIns="43629" rIns="87258" bIns="43629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63220" lvl="1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en-US" altLang="zh-CN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String</a:t>
            </a: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：简单动态字符串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63220" lvl="1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en-US" altLang="zh-CN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List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双向链表</a:t>
            </a:r>
            <a:endParaRPr lang="en-US" altLang="zh-CN" sz="107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压缩列表</a:t>
            </a:r>
            <a:endParaRPr lang="en-US" altLang="zh-CN" sz="107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63220" lvl="1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en-US" altLang="zh-CN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Hash</a:t>
            </a:r>
            <a:endParaRPr lang="en-US" altLang="zh-CN" sz="178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压</a:t>
            </a:r>
            <a:r>
              <a:rPr lang="zh-CN" altLang="en-US" sz="107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缩列</a:t>
            </a:r>
            <a:r>
              <a:rPr lang="zh-CN" altLang="en-US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</a:t>
            </a:r>
            <a:endParaRPr lang="en-US" altLang="zh-CN" sz="107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哈希</a:t>
            </a:r>
            <a:r>
              <a:rPr lang="zh-CN" altLang="en-US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</a:t>
            </a:r>
            <a:endParaRPr lang="en-US" altLang="zh-CN" sz="107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63220" lvl="1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en-US" altLang="zh-CN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Zset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跳表</a:t>
            </a:r>
            <a:endParaRPr lang="en-US" altLang="zh-CN" sz="107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压缩列表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63220" lvl="1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en-US" altLang="zh-CN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Set</a:t>
            </a:r>
            <a:endParaRPr lang="en-US" altLang="zh-CN" sz="178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</a:t>
            </a:r>
            <a:r>
              <a:rPr lang="zh-CN" altLang="en-US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数数组</a:t>
            </a:r>
            <a:endParaRPr lang="en-US" altLang="zh-CN" sz="107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哈希</a:t>
            </a:r>
            <a:r>
              <a:rPr lang="zh-CN" altLang="en-US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</a:t>
            </a:r>
            <a:endParaRPr lang="en-US" altLang="zh-CN" sz="178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1454/1/ad48039f2d0c40ffab8238cb2135b95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416" y="271525"/>
            <a:ext cx="1133324" cy="327435"/>
          </a:xfrm>
          <a:prstGeom prst="rect">
            <a:avLst/>
          </a:prstGeom>
        </p:spPr>
      </p:pic>
      <p:sp>
        <p:nvSpPr>
          <p:cNvPr id="8" name="Object7"/>
          <p:cNvSpPr/>
          <p:nvPr/>
        </p:nvSpPr>
        <p:spPr>
          <a:xfrm>
            <a:off x="2293293" y="5093"/>
            <a:ext cx="4376183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en-US" altLang="zh-CN" sz="258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r>
              <a:rPr lang="zh-CN" altLang="en-US" sz="258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的事务</a:t>
            </a:r>
            <a:endParaRPr lang="en-US" sz="1515" dirty="0"/>
          </a:p>
        </p:txBody>
      </p:sp>
      <p:sp>
        <p:nvSpPr>
          <p:cNvPr id="5" name="矩形 4"/>
          <p:cNvSpPr/>
          <p:nvPr/>
        </p:nvSpPr>
        <p:spPr>
          <a:xfrm>
            <a:off x="286416" y="770656"/>
            <a:ext cx="8103959" cy="1301750"/>
          </a:xfrm>
          <a:prstGeom prst="rect">
            <a:avLst/>
          </a:prstGeom>
        </p:spPr>
        <p:txBody>
          <a:bodyPr wrap="square" lIns="87258" tIns="43629" rIns="87258" bIns="43629">
            <a:spAutoFit/>
          </a:bodyPr>
          <a:lstStyle/>
          <a:p>
            <a:pPr marL="306070" indent="-306070">
              <a:buFont typeface="Wingdings" panose="05000000000000000000" pitchFamily="2" charset="2"/>
              <a:buChar char="n"/>
            </a:pP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什么是事务？</a:t>
            </a:r>
            <a:endParaRPr lang="en-US" altLang="zh-CN" sz="1605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35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简单地说，事务表示一组动作，要么全部执行，要么全部不执行。</a:t>
            </a:r>
            <a:endParaRPr lang="en-US" altLang="zh-CN" sz="1335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1335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1335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06070" indent="-306070">
              <a:buFont typeface="Wingdings" panose="05000000000000000000" pitchFamily="2" charset="2"/>
              <a:buChar char="Ø"/>
            </a:pPr>
            <a:r>
              <a:rPr lang="en-US" altLang="zh-CN" sz="1605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Watch</a:t>
            </a:r>
            <a:r>
              <a:rPr lang="zh-CN" altLang="en-US" sz="1605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机制</a:t>
            </a:r>
            <a:endParaRPr lang="en-US" altLang="zh-CN" sz="1605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0205" y="2348230"/>
            <a:ext cx="8541385" cy="1818640"/>
          </a:xfrm>
          <a:prstGeom prst="rect">
            <a:avLst/>
          </a:prstGeom>
        </p:spPr>
        <p:txBody>
          <a:bodyPr wrap="square" lIns="87258" tIns="43629" rIns="87258" bIns="43629">
            <a:spAutoFit/>
          </a:bodyPr>
          <a:lstStyle/>
          <a:p>
            <a:pPr marL="306070" indent="-306070">
              <a:buFont typeface="Wingdings" panose="05000000000000000000" pitchFamily="2" charset="2"/>
              <a:buChar char="n"/>
            </a:pPr>
            <a:r>
              <a:rPr 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怎么保障</a:t>
            </a:r>
            <a:r>
              <a:rPr lang="en-US" alt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Redis</a:t>
            </a: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与</a:t>
            </a:r>
            <a:r>
              <a:rPr lang="en-US" alt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DB</a:t>
            </a: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的数据一致性问题</a:t>
            </a:r>
            <a:endParaRPr lang="zh-CN" altLang="en-US" sz="1605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06070" indent="-306070">
              <a:buFont typeface="Wingdings" panose="05000000000000000000" pitchFamily="2" charset="2"/>
              <a:buChar char="n"/>
            </a:pPr>
            <a:r>
              <a:rPr lang="en-US" alt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get</a:t>
            </a: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代码（或通过注解获取缓存）：</a:t>
            </a:r>
            <a:r>
              <a:rPr lang="en-US" alt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）获取缓存</a:t>
            </a:r>
            <a:r>
              <a:rPr lang="en-US" alt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2)</a:t>
            </a: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没有获取到则查询</a:t>
            </a:r>
            <a:r>
              <a:rPr lang="en-US" alt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DB</a:t>
            </a: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，然后同步更新缓存</a:t>
            </a:r>
            <a:r>
              <a:rPr lang="en-US" alt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3</a:t>
            </a: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）获取缓存成功则直接返回</a:t>
            </a:r>
            <a:endParaRPr lang="zh-CN" altLang="en-US" sz="1605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06070" indent="-306070">
              <a:buFont typeface="Wingdings" panose="05000000000000000000" pitchFamily="2" charset="2"/>
              <a:buChar char="n"/>
            </a:pPr>
            <a:r>
              <a:rPr lang="en-US" alt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update</a:t>
            </a: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代码：</a:t>
            </a:r>
            <a:endParaRPr lang="zh-CN" altLang="en-US" sz="1605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06070" indent="-306070">
              <a:buFont typeface="Wingdings" panose="05000000000000000000" pitchFamily="2" charset="2"/>
              <a:buChar char="n"/>
            </a:pPr>
            <a:endParaRPr lang="zh-CN" altLang="en-US" sz="1605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06070" indent="-306070">
              <a:buFont typeface="Wingdings" panose="05000000000000000000" pitchFamily="2" charset="2"/>
              <a:buChar char="n"/>
            </a:pPr>
            <a:r>
              <a:rPr lang="en-US" alt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）优先更新数据库，</a:t>
            </a:r>
            <a:r>
              <a:rPr lang="zh-CN" altLang="en-US" sz="1605" b="1" strike="sngStrike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还是优先更新缓存呢？</a:t>
            </a:r>
            <a:endParaRPr lang="zh-CN" altLang="en-US" sz="1605" b="1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06070" indent="-306070">
              <a:buFont typeface="Wingdings" panose="05000000000000000000" pitchFamily="2" charset="2"/>
              <a:buChar char="n"/>
            </a:pPr>
            <a:r>
              <a:rPr lang="en-US" altLang="zh-CN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1605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）优先是删除缓存，</a:t>
            </a:r>
            <a:r>
              <a:rPr lang="zh-CN" altLang="en-US" sz="1605" b="1" strike="sngStrike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还是更新缓存。</a:t>
            </a:r>
            <a:endParaRPr lang="en-US" altLang="zh-CN" sz="1605" b="1" strike="sngStrike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2d55bbbf0a794d2daff265f2a2ef259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00"/>
            <a:ext cx="9144000" cy="4663887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764056" y="920560"/>
            <a:ext cx="7615888" cy="90697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90000"/>
              </a:lnSpc>
            </a:pPr>
            <a:r>
              <a:rPr lang="en-US" sz="5000" b="1" kern="0" spc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r>
              <a:rPr lang="zh-CN" altLang="en-US" sz="5000" b="1" kern="0" spc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</a:t>
            </a:r>
            <a:r>
              <a:rPr lang="en-US" altLang="zh-CN" sz="5000" b="1" kern="0" spc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5000" b="1" kern="0" spc="7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>
              <a:lnSpc>
                <a:spcPct val="90000"/>
              </a:lnSpc>
            </a:pPr>
            <a:endParaRPr lang="zh-CN" alt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2E9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2E9FFF"/>
            </a:solidFill>
            <a:prstDash val="solid"/>
          </a:ln>
        </p:spPr>
      </p:sp>
      <p:pic>
        <p:nvPicPr>
          <p:cNvPr id="7" name="Object 6" descr="https://fynotefile.oss-cn-zhangjiakou.aliyuncs.com/fynote/fyfile/392/1/8486aefb265a42c4adf6d8938809b6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80" y="-2300"/>
            <a:ext cx="2372320" cy="1829940"/>
          </a:xfrm>
          <a:prstGeom prst="rect">
            <a:avLst/>
          </a:prstGeom>
        </p:spPr>
      </p:pic>
      <p:pic>
        <p:nvPicPr>
          <p:cNvPr id="8" name="Object 7" descr="https://fynotefile.oss-cn-zhangjiakou.aliyuncs.com/fynote/fyfile/392/1/9942b3bd883144a4ba9eba285821ce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426"/>
            <a:ext cx="1495032" cy="2480583"/>
          </a:xfrm>
          <a:prstGeom prst="rect">
            <a:avLst/>
          </a:prstGeom>
        </p:spPr>
      </p:pic>
      <p:pic>
        <p:nvPicPr>
          <p:cNvPr id="9" name="Object 8" descr="https://fynotefile.oss-cn-zhangjiakou.aliyuncs.com/fynote/fyfile/392/1/38ad7252fd0c4accabf65b2b6e4a09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442" y="2886332"/>
            <a:ext cx="266271" cy="26627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037205" y="2213610"/>
            <a:ext cx="347980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2000" b="1" i="0">
                <a:solidFill>
                  <a:srgbClr val="333333"/>
                </a:solidFill>
                <a:latin typeface="Open Sans"/>
                <a:ea typeface="Open Sans"/>
              </a:rPr>
              <a:t>Redis</a:t>
            </a:r>
            <a:r>
              <a:rPr lang="zh-CN" altLang="en-US" sz="2000" b="1" i="0">
                <a:solidFill>
                  <a:srgbClr val="333333"/>
                </a:solidFill>
                <a:latin typeface="Open Sans"/>
                <a:ea typeface="Open Sans"/>
              </a:rPr>
              <a:t>实战运用与架构设计</a:t>
            </a:r>
            <a:endParaRPr lang="en-US" altLang="zh-CN" sz="2000" b="1" i="0">
              <a:solidFill>
                <a:srgbClr val="333333"/>
              </a:solidFill>
              <a:latin typeface="Open Sans"/>
              <a:ea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01d9609cac084c43b9fbc9119b17a5f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157971" cy="3426310"/>
          </a:xfrm>
          <a:prstGeom prst="rect">
            <a:avLst/>
          </a:prstGeom>
        </p:spPr>
      </p:pic>
      <p:pic>
        <p:nvPicPr>
          <p:cNvPr id="3" name="Object 2" descr="https://fynotefile.oss-cn-zhangjiakou.aliyuncs.com/fynote/fyfile/392/1/e06acedcd6c44249943ef2119ff824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552" y="3426310"/>
            <a:ext cx="2656448" cy="1742336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文本框 9"/>
          <p:cNvSpPr txBox="1"/>
          <p:nvPr/>
        </p:nvSpPr>
        <p:spPr>
          <a:xfrm>
            <a:off x="471805" y="925195"/>
            <a:ext cx="7212330" cy="3712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60000"/>
              </a:lnSpc>
              <a:buNone/>
            </a:pPr>
            <a:r>
              <a:rPr lang="zh-CN"/>
              <a:t>1、讲一讲</a:t>
            </a:r>
            <a:r>
              <a:rPr lang="en-US" altLang="zh-CN"/>
              <a:t>Redis</a:t>
            </a:r>
            <a:r>
              <a:rPr lang="zh-CN"/>
              <a:t>缓存的三大问题！（击穿、穿透、雪崩）</a:t>
            </a:r>
            <a:endParaRPr lang="zh-CN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>
                <a:sym typeface="+mn-ea"/>
              </a:rPr>
              <a:t>讲一讲</a:t>
            </a:r>
            <a:r>
              <a:rPr lang="en-US" altLang="zh-CN">
                <a:sym typeface="+mn-ea"/>
              </a:rPr>
              <a:t>Redis</a:t>
            </a:r>
            <a:r>
              <a:rPr lang="zh-CN">
                <a:sym typeface="+mn-ea"/>
              </a:rPr>
              <a:t>缓存的</a:t>
            </a:r>
            <a:r>
              <a:rPr lang="en-US" altLang="zh-CN"/>
              <a:t>BigKey</a:t>
            </a:r>
            <a:r>
              <a:rPr lang="zh-CN" altLang="en-US"/>
              <a:t>和热点</a:t>
            </a:r>
            <a:r>
              <a:rPr lang="en-US" altLang="zh-CN"/>
              <a:t>Key</a:t>
            </a:r>
            <a:r>
              <a:rPr lang="zh-CN" altLang="en-US"/>
              <a:t>！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>
                <a:sym typeface="+mn-ea"/>
              </a:rPr>
              <a:t>讲一讲</a:t>
            </a:r>
            <a:r>
              <a:rPr lang="en-US" altLang="zh-CN">
                <a:sym typeface="+mn-ea"/>
              </a:rPr>
              <a:t>Redis</a:t>
            </a:r>
            <a:r>
              <a:rPr lang="zh-CN">
                <a:sym typeface="+mn-ea"/>
              </a:rPr>
              <a:t>缓存的</a:t>
            </a:r>
            <a:r>
              <a:rPr lang="zh-CN" altLang="en-US"/>
              <a:t>主从复制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zh-CN">
                <a:sym typeface="+mn-ea"/>
              </a:rPr>
              <a:t>讲一讲</a:t>
            </a:r>
            <a:r>
              <a:rPr lang="en-US" altLang="zh-CN">
                <a:sym typeface="+mn-ea"/>
              </a:rPr>
              <a:t>Redis</a:t>
            </a:r>
            <a:r>
              <a:rPr lang="zh-CN">
                <a:sym typeface="+mn-ea"/>
              </a:rPr>
              <a:t>缓存的哨兵机制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zh-CN">
                <a:sym typeface="+mn-ea"/>
              </a:rPr>
              <a:t>讲一讲</a:t>
            </a:r>
            <a:r>
              <a:rPr lang="en-US" altLang="zh-CN">
                <a:sym typeface="+mn-ea"/>
              </a:rPr>
              <a:t>Redis</a:t>
            </a:r>
            <a:r>
              <a:rPr lang="zh-CN">
                <a:sym typeface="+mn-ea"/>
              </a:rPr>
              <a:t>缓存的</a:t>
            </a:r>
            <a:r>
              <a:rPr lang="zh-CN" altLang="en-US"/>
              <a:t>集群原理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zh-CN">
                <a:sym typeface="+mn-ea"/>
              </a:rPr>
              <a:t>讲一讲</a:t>
            </a:r>
            <a:r>
              <a:rPr lang="en-US" altLang="zh-CN">
                <a:sym typeface="+mn-ea"/>
              </a:rPr>
              <a:t>Redis</a:t>
            </a:r>
            <a:r>
              <a:rPr lang="zh-CN" altLang="en-US">
                <a:sym typeface="+mn-ea"/>
              </a:rPr>
              <a:t>分布式锁的原理</a:t>
            </a:r>
            <a:endParaRPr lang="zh-CN" altLang="en-US"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7</a:t>
            </a:r>
            <a:r>
              <a:rPr lang="zh-CN" altLang="en-US"/>
              <a:t>、</a:t>
            </a:r>
            <a:r>
              <a:rPr lang="zh-CN">
                <a:sym typeface="+mn-ea"/>
              </a:rPr>
              <a:t>讲一讲</a:t>
            </a:r>
            <a:r>
              <a:rPr lang="en-US" altLang="zh-CN">
                <a:sym typeface="+mn-ea"/>
              </a:rPr>
              <a:t>Redis</a:t>
            </a:r>
            <a:r>
              <a:rPr lang="zh-CN" altLang="en-US">
                <a:sym typeface="+mn-ea"/>
              </a:rPr>
              <a:t>实现多级缓存</a:t>
            </a:r>
            <a:endParaRPr lang="zh-CN" altLang="en-US"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8</a:t>
            </a:r>
            <a:r>
              <a:rPr lang="zh-CN" altLang="en-US"/>
              <a:t>、</a:t>
            </a:r>
            <a:r>
              <a:rPr lang="zh-CN">
                <a:sym typeface="+mn-ea"/>
              </a:rPr>
              <a:t>讲一讲</a:t>
            </a:r>
            <a:r>
              <a:rPr lang="en-US" altLang="zh-CN">
                <a:sym typeface="+mn-ea"/>
              </a:rPr>
              <a:t>Redis</a:t>
            </a:r>
            <a:r>
              <a:rPr lang="zh-CN" altLang="en-US">
                <a:sym typeface="+mn-ea"/>
              </a:rPr>
              <a:t>缓存的一致性问题</a:t>
            </a:r>
            <a:endParaRPr lang="zh-CN" altLang="en-US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35785" y="135890"/>
            <a:ext cx="676338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60000"/>
              </a:spcAft>
            </a:pPr>
            <a:r>
              <a:rPr lang="zh-CN" altLang="en-US" sz="2000" b="1" i="0">
                <a:solidFill>
                  <a:srgbClr val="333333"/>
                </a:solidFill>
                <a:latin typeface="Open Sans"/>
                <a:ea typeface="Open Sans"/>
              </a:rPr>
              <a:t>Redis面试2：</a:t>
            </a:r>
            <a:r>
              <a:rPr lang="zh-CN" altLang="en-US" sz="2000" b="1">
                <a:solidFill>
                  <a:srgbClr val="333333"/>
                </a:solidFill>
                <a:latin typeface="Open Sans"/>
                <a:ea typeface="Open Sans"/>
                <a:sym typeface="+mn-ea"/>
              </a:rPr>
              <a:t>Redis</a:t>
            </a:r>
            <a:r>
              <a:rPr lang="zh-CN" altLang="en-US" sz="2000" b="1">
                <a:solidFill>
                  <a:srgbClr val="333333"/>
                </a:solidFill>
                <a:latin typeface="Open Sans"/>
                <a:ea typeface="Open Sans"/>
                <a:sym typeface="+mn-ea"/>
              </a:rPr>
              <a:t>实战运用与架构设计</a:t>
            </a:r>
            <a:endParaRPr lang="zh-CN" altLang="en-US" sz="2000" b="1" i="0">
              <a:solidFill>
                <a:srgbClr val="333333"/>
              </a:solidFill>
              <a:latin typeface="Open Sans"/>
              <a:ea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1664037" y="91133"/>
            <a:ext cx="575154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缓存使用问题</a:t>
            </a:r>
            <a:endParaRPr lang="en-US" sz="1515" dirty="0"/>
          </a:p>
        </p:txBody>
      </p:sp>
      <p:sp>
        <p:nvSpPr>
          <p:cNvPr id="6" name="矩形 2"/>
          <p:cNvSpPr/>
          <p:nvPr/>
        </p:nvSpPr>
        <p:spPr>
          <a:xfrm>
            <a:off x="425920" y="891284"/>
            <a:ext cx="3376535" cy="1645920"/>
          </a:xfrm>
          <a:prstGeom prst="rect">
            <a:avLst/>
          </a:prstGeom>
          <a:noFill/>
          <a:ln w="9525">
            <a:noFill/>
          </a:ln>
        </p:spPr>
        <p:txBody>
          <a:bodyPr wrap="square" lIns="87258" tIns="43629" rIns="87258" bIns="43629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63220" lvl="1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缓存穿透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63220" lvl="1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8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缓</a:t>
            </a: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存击穿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63220" lvl="1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8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缓</a:t>
            </a: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存雪崩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2" y="0"/>
            <a:ext cx="4376184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CN" altLang="en-US" sz="27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缓存穿透</a:t>
            </a:r>
            <a:endParaRPr lang="en-US" sz="1500" dirty="0"/>
          </a:p>
        </p:txBody>
      </p:sp>
      <p:pic>
        <p:nvPicPr>
          <p:cNvPr id="4098" name="Picture 2" descr="E:\VIP课\Redis\img\Redis缓存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170" y="914294"/>
            <a:ext cx="6630500" cy="3856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2" y="0"/>
            <a:ext cx="4376184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CN" sz="27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缓存穿透之布隆过滤器</a:t>
            </a:r>
            <a:endParaRPr lang="zh-CN" sz="1500" dirty="0"/>
          </a:p>
        </p:txBody>
      </p:sp>
      <p:sp>
        <p:nvSpPr>
          <p:cNvPr id="9" name="矩形 8"/>
          <p:cNvSpPr/>
          <p:nvPr/>
        </p:nvSpPr>
        <p:spPr>
          <a:xfrm>
            <a:off x="193432" y="783414"/>
            <a:ext cx="3493476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布隆过滤器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回种空值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2" name="Picture 2" descr="E:\VIP课\Redis\img\Redis缓存穿透-布隆过滤器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482" y="595011"/>
            <a:ext cx="4568825" cy="453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1664037" y="91133"/>
            <a:ext cx="575154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缓存使用问题</a:t>
            </a:r>
            <a:endParaRPr lang="en-US" sz="1515" dirty="0"/>
          </a:p>
        </p:txBody>
      </p:sp>
      <p:sp>
        <p:nvSpPr>
          <p:cNvPr id="7" name="矩形 2"/>
          <p:cNvSpPr/>
          <p:nvPr/>
        </p:nvSpPr>
        <p:spPr>
          <a:xfrm>
            <a:off x="407813" y="773198"/>
            <a:ext cx="3376535" cy="3519805"/>
          </a:xfrm>
          <a:prstGeom prst="rect">
            <a:avLst/>
          </a:prstGeom>
          <a:noFill/>
          <a:ln w="9525">
            <a:noFill/>
          </a:ln>
        </p:spPr>
        <p:txBody>
          <a:bodyPr wrap="square" lIns="87258" tIns="43629" rIns="87258" bIns="43629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63220" lvl="1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8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数据倾</a:t>
            </a: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斜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63220" lvl="1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热点</a:t>
            </a:r>
            <a:r>
              <a:rPr lang="en-US" altLang="zh-CN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产生原因和危</a:t>
            </a:r>
            <a:r>
              <a:rPr lang="zh-CN" altLang="en-US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害</a:t>
            </a:r>
            <a:endParaRPr lang="en-US" altLang="zh-CN" sz="107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发现热点</a:t>
            </a:r>
            <a:r>
              <a:rPr lang="en-US" altLang="zh-CN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</a:t>
            </a:r>
            <a:endParaRPr lang="en-US" altLang="zh-CN" sz="107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解决热点</a:t>
            </a:r>
            <a:r>
              <a:rPr lang="en-US" altLang="zh-CN" sz="107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</a:t>
            </a:r>
            <a:endParaRPr lang="en-US" altLang="zh-CN" sz="107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63220" lvl="1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en-US" altLang="zh-CN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BigKey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</a:t>
            </a:r>
            <a:r>
              <a:rPr lang="en-US" altLang="zh-CN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bigkey</a:t>
            </a:r>
            <a:endParaRPr lang="en-US" altLang="zh-CN" sz="107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发现</a:t>
            </a:r>
            <a:r>
              <a:rPr lang="en-US" altLang="zh-CN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bigkey</a:t>
            </a:r>
            <a:endParaRPr lang="en-US" altLang="zh-CN" sz="107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63270" lvl="2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107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</a:t>
            </a:r>
            <a:r>
              <a:rPr lang="en-US" altLang="zh-CN" sz="107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bigkey</a:t>
            </a:r>
            <a:endParaRPr lang="en-US" altLang="zh-CN" sz="107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3" y="5093"/>
            <a:ext cx="4376183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en-US" altLang="zh-CN" sz="258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的主从复制</a:t>
            </a:r>
            <a:endParaRPr lang="en-US" sz="1515" dirty="0"/>
          </a:p>
        </p:txBody>
      </p:sp>
      <p:sp>
        <p:nvSpPr>
          <p:cNvPr id="5" name="矩形 2"/>
          <p:cNvSpPr/>
          <p:nvPr/>
        </p:nvSpPr>
        <p:spPr>
          <a:xfrm>
            <a:off x="219075" y="735965"/>
            <a:ext cx="3309620" cy="711200"/>
          </a:xfrm>
          <a:prstGeom prst="rect">
            <a:avLst/>
          </a:prstGeom>
          <a:noFill/>
          <a:ln w="9525">
            <a:noFill/>
          </a:ln>
        </p:spPr>
        <p:txBody>
          <a:bodyPr wrap="square" lIns="87258" tIns="43629" rIns="87258" bIns="43629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63220" lvl="1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214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主从复制的拓扑结构</a:t>
            </a:r>
            <a:endParaRPr lang="en-US" altLang="zh-CN" sz="214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2"/>
          <p:cNvSpPr/>
          <p:nvPr/>
        </p:nvSpPr>
        <p:spPr>
          <a:xfrm>
            <a:off x="218984" y="1731252"/>
            <a:ext cx="2759295" cy="605790"/>
          </a:xfrm>
          <a:prstGeom prst="rect">
            <a:avLst/>
          </a:prstGeom>
          <a:noFill/>
          <a:ln w="9525">
            <a:noFill/>
          </a:ln>
        </p:spPr>
        <p:txBody>
          <a:bodyPr wrap="square" lIns="87258" tIns="43629" rIns="87258" bIns="43629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63220" lvl="1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8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</a:t>
            </a: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置复制的三种方式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967" y="786066"/>
            <a:ext cx="2893411" cy="71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184" y="1857723"/>
            <a:ext cx="3236194" cy="105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961" y="3003429"/>
            <a:ext cx="2702639" cy="1970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2"/>
          <p:cNvSpPr/>
          <p:nvPr/>
        </p:nvSpPr>
        <p:spPr>
          <a:xfrm>
            <a:off x="286416" y="3176373"/>
            <a:ext cx="2759295" cy="605790"/>
          </a:xfrm>
          <a:prstGeom prst="rect">
            <a:avLst/>
          </a:prstGeom>
          <a:noFill/>
          <a:ln w="9525">
            <a:noFill/>
          </a:ln>
        </p:spPr>
        <p:txBody>
          <a:bodyPr wrap="square" lIns="87258" tIns="43629" rIns="87258" bIns="43629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63220" lvl="1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复制的原理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86062" y="579062"/>
            <a:ext cx="1567810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5" dirty="0"/>
              <a:t>一主一从</a:t>
            </a:r>
            <a:endParaRPr lang="zh-CN" altLang="en-US" sz="1605" dirty="0"/>
          </a:p>
        </p:txBody>
      </p:sp>
      <p:sp>
        <p:nvSpPr>
          <p:cNvPr id="13" name="TextBox 12"/>
          <p:cNvSpPr txBox="1"/>
          <p:nvPr/>
        </p:nvSpPr>
        <p:spPr>
          <a:xfrm>
            <a:off x="4984402" y="1552985"/>
            <a:ext cx="1567810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5" dirty="0"/>
              <a:t>一</a:t>
            </a:r>
            <a:r>
              <a:rPr lang="zh-CN" altLang="en-US" sz="1605" dirty="0" smtClean="0"/>
              <a:t>主多从</a:t>
            </a:r>
            <a:endParaRPr lang="zh-CN" altLang="en-US" sz="1605" dirty="0"/>
          </a:p>
        </p:txBody>
      </p:sp>
      <p:sp>
        <p:nvSpPr>
          <p:cNvPr id="14" name="TextBox 13"/>
          <p:cNvSpPr txBox="1"/>
          <p:nvPr/>
        </p:nvSpPr>
        <p:spPr>
          <a:xfrm>
            <a:off x="5074239" y="3155838"/>
            <a:ext cx="1191456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5" dirty="0" smtClean="0"/>
              <a:t>树状主从</a:t>
            </a:r>
            <a:endParaRPr lang="zh-CN" altLang="en-US" sz="1605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012126" y="42899"/>
            <a:ext cx="575154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zh-CN" altLang="en-US" sz="258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哨兵机制</a:t>
            </a:r>
            <a:r>
              <a:rPr lang="en-US" altLang="zh-CN" sz="258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(sentinel)</a:t>
            </a:r>
            <a:r>
              <a:rPr lang="zh-CN" altLang="en-US" sz="258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的高可用</a:t>
            </a:r>
            <a:endParaRPr lang="en-US" sz="1515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739" y="1651753"/>
            <a:ext cx="4527494" cy="3235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8"/>
          <p:cNvSpPr txBox="1"/>
          <p:nvPr/>
        </p:nvSpPr>
        <p:spPr>
          <a:xfrm>
            <a:off x="286417" y="871646"/>
            <a:ext cx="8510109" cy="4432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60000"/>
              </a:lnSpc>
            </a:pPr>
            <a:r>
              <a:rPr sz="1425" b="0" dirty="0"/>
              <a:t>原理：当主节点出现故障时，由</a:t>
            </a:r>
            <a:r>
              <a:rPr lang="en-US" sz="1425" b="0" dirty="0"/>
              <a:t>R</a:t>
            </a:r>
            <a:r>
              <a:rPr sz="1425" b="0" dirty="0"/>
              <a:t>edis </a:t>
            </a:r>
            <a:r>
              <a:rPr lang="en-US" sz="1425" b="0" dirty="0"/>
              <a:t>S</a:t>
            </a:r>
            <a:r>
              <a:rPr sz="1425" b="0" dirty="0"/>
              <a:t>entinel自动完成故障发现和转移，并通知应用方，实现高可用性。</a:t>
            </a:r>
            <a:endParaRPr sz="1425" b="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1713915" y="97565"/>
            <a:ext cx="637801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zh-CN" altLang="en-US" sz="2850" b="1" dirty="0" smtClean="0"/>
              <a:t>分布式锁</a:t>
            </a:r>
            <a:endParaRPr lang="en-US" sz="1515" dirty="0"/>
          </a:p>
        </p:txBody>
      </p:sp>
      <p:pic>
        <p:nvPicPr>
          <p:cNvPr id="2050" name="Picture 2" descr="E:\VIP课\Redis\img\分布式锁加入看门狗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35" y="1100483"/>
            <a:ext cx="8071730" cy="361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012126" y="42899"/>
            <a:ext cx="575154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en-US" altLang="zh-CN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</a:t>
            </a:r>
            <a:endParaRPr lang="en-US" sz="1515" dirty="0"/>
          </a:p>
        </p:txBody>
      </p:sp>
      <p:sp>
        <p:nvSpPr>
          <p:cNvPr id="4" name="矩形 3"/>
          <p:cNvSpPr/>
          <p:nvPr/>
        </p:nvSpPr>
        <p:spPr>
          <a:xfrm>
            <a:off x="241460" y="1864695"/>
            <a:ext cx="2281647" cy="338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1605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槽与节点的关系</a:t>
            </a:r>
            <a:endParaRPr lang="zh-CN" altLang="en-US" sz="1605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88" y="2376341"/>
            <a:ext cx="3429610" cy="270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954" y="2519781"/>
            <a:ext cx="3642327" cy="2420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4932954" y="1933064"/>
            <a:ext cx="2281647" cy="338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1605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键、槽、映射</a:t>
            </a:r>
            <a:endParaRPr lang="zh-CN" altLang="en-US" sz="1605" dirty="0"/>
          </a:p>
        </p:txBody>
      </p:sp>
      <p:sp>
        <p:nvSpPr>
          <p:cNvPr id="3" name="矩形 2"/>
          <p:cNvSpPr/>
          <p:nvPr/>
        </p:nvSpPr>
        <p:spPr>
          <a:xfrm>
            <a:off x="237107" y="805986"/>
            <a:ext cx="8596577" cy="338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5" b="1" dirty="0"/>
              <a:t>RedisCluster</a:t>
            </a:r>
            <a:r>
              <a:rPr lang="zh-CN" altLang="en-US" sz="1605" b="1" dirty="0"/>
              <a:t>采</a:t>
            </a:r>
            <a:r>
              <a:rPr lang="zh-CN" altLang="en-US" sz="1605" b="1" dirty="0" smtClean="0"/>
              <a:t>用虚拟槽分</a:t>
            </a:r>
            <a:r>
              <a:rPr lang="zh-CN" altLang="en-US" sz="1605" b="1" dirty="0"/>
              <a:t>区，所有的键根据哈希函数</a:t>
            </a:r>
            <a:r>
              <a:rPr lang="en-US" altLang="zh-CN" sz="1605" b="1" dirty="0"/>
              <a:t>(CRC16[key]&amp;16383)</a:t>
            </a:r>
            <a:r>
              <a:rPr lang="zh-CN" altLang="en-US" sz="1605" b="1" dirty="0"/>
              <a:t>映射到</a:t>
            </a:r>
            <a:r>
              <a:rPr lang="en-US" altLang="zh-CN" sz="1605" b="1" dirty="0"/>
              <a:t>0</a:t>
            </a:r>
            <a:r>
              <a:rPr lang="zh-CN" altLang="en-US" sz="1605" b="1" dirty="0"/>
              <a:t>－</a:t>
            </a:r>
            <a:r>
              <a:rPr lang="en-US" altLang="zh-CN" sz="1605" b="1" dirty="0"/>
              <a:t>16383</a:t>
            </a:r>
            <a:r>
              <a:rPr lang="zh-CN" altLang="en-US" sz="1605" b="1" dirty="0"/>
              <a:t>槽内</a:t>
            </a:r>
            <a:endParaRPr lang="zh-CN" altLang="en-US" sz="1605" b="1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742263" y="5093"/>
            <a:ext cx="4062821" cy="76139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集群之间的通讯</a:t>
            </a:r>
            <a:endParaRPr lang="en-US" sz="1515" dirty="0"/>
          </a:p>
        </p:txBody>
      </p:sp>
      <p:sp>
        <p:nvSpPr>
          <p:cNvPr id="6" name="文本框 8"/>
          <p:cNvSpPr txBox="1"/>
          <p:nvPr/>
        </p:nvSpPr>
        <p:spPr>
          <a:xfrm>
            <a:off x="392821" y="803878"/>
            <a:ext cx="3816103" cy="6375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n"/>
            </a:pPr>
            <a:r>
              <a:rPr lang="zh-CN" altLang="en-US" sz="160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集</a:t>
            </a:r>
            <a:r>
              <a:rPr lang="zh-CN" altLang="en-US" sz="1605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群节点通信－</a:t>
            </a:r>
            <a:r>
              <a:rPr lang="en-US" altLang="zh-CN" sz="1605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Gossip</a:t>
            </a:r>
            <a:r>
              <a:rPr lang="zh-CN" altLang="en-US" sz="1605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</a:t>
            </a:r>
            <a:r>
              <a:rPr lang="zh-CN" altLang="en-US" sz="160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议</a:t>
            </a:r>
            <a:endParaRPr lang="en-US" altLang="zh-CN" sz="1605" dirty="0" smtClean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Aft>
                <a:spcPts val="400"/>
              </a:spcAft>
            </a:pPr>
            <a:r>
              <a:rPr lang="zh-CN" altLang="en-US" sz="160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流言！！</a:t>
            </a:r>
            <a:endParaRPr lang="en-US" altLang="zh-CN" sz="1605" dirty="0" smtClean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321" y="1928329"/>
            <a:ext cx="5045893" cy="3096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600182" y="1869146"/>
            <a:ext cx="2286000" cy="2071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5" dirty="0"/>
              <a:t>ping</a:t>
            </a:r>
            <a:r>
              <a:rPr lang="zh-CN" altLang="en-US" sz="1605" dirty="0"/>
              <a:t>消息</a:t>
            </a:r>
            <a:endParaRPr lang="zh-CN" altLang="en-US" sz="1605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5" dirty="0"/>
              <a:t>pong</a:t>
            </a:r>
            <a:r>
              <a:rPr lang="zh-CN" altLang="en-US" sz="1605" dirty="0"/>
              <a:t>消息</a:t>
            </a:r>
            <a:endParaRPr lang="zh-CN" altLang="en-US" sz="1605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5" dirty="0"/>
              <a:t>meet</a:t>
            </a:r>
            <a:r>
              <a:rPr lang="zh-CN" altLang="en-US" sz="1605" dirty="0"/>
              <a:t>消息</a:t>
            </a:r>
            <a:endParaRPr lang="zh-CN" altLang="en-US" sz="1605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605" dirty="0"/>
              <a:t>fail</a:t>
            </a:r>
            <a:r>
              <a:rPr lang="zh-CN" altLang="en-US" sz="1605" dirty="0"/>
              <a:t>消息</a:t>
            </a:r>
            <a:endParaRPr lang="zh-CN" altLang="en-US" sz="1605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1664037" y="91133"/>
            <a:ext cx="575154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en-US" altLang="zh-CN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RedisCluster</a:t>
            </a:r>
            <a:r>
              <a:rPr lang="zh-CN" altLang="en-US" sz="258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集群－故障转移主观下线</a:t>
            </a:r>
            <a:endParaRPr lang="en-US" sz="1515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61" y="846206"/>
            <a:ext cx="7454090" cy="41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1664037" y="91133"/>
            <a:ext cx="575154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en-US" altLang="zh-CN" sz="258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RedisCluster</a:t>
            </a:r>
            <a:r>
              <a:rPr lang="zh-CN" altLang="en-US" sz="258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集群－故障转移客观下线</a:t>
            </a:r>
            <a:endParaRPr lang="en-US" sz="1515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49" y="859289"/>
            <a:ext cx="7876515" cy="3897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1664037" y="91133"/>
            <a:ext cx="575154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en-US" altLang="zh-CN" sz="258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RedisCluster</a:t>
            </a:r>
            <a:r>
              <a:rPr lang="zh-CN" altLang="en-US" sz="258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集群－故障恢复</a:t>
            </a:r>
            <a:endParaRPr lang="en-US" sz="1515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783" y="804558"/>
            <a:ext cx="3518120" cy="4081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1664037" y="91133"/>
            <a:ext cx="575154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zh-CN" altLang="en-US" sz="3200" dirty="0"/>
              <a:t>多级缓存架构</a:t>
            </a:r>
            <a:endParaRPr lang="zh-CN" altLang="en-US" sz="32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  <p:pic>
        <p:nvPicPr>
          <p:cNvPr id="2" name="图片 1" descr="多级缓存架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766445"/>
            <a:ext cx="9143365" cy="3813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3" y="5093"/>
            <a:ext cx="4376183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数据一致性问题</a:t>
            </a:r>
            <a:endParaRPr lang="en-US" sz="1515" dirty="0"/>
          </a:p>
        </p:txBody>
      </p:sp>
      <p:sp>
        <p:nvSpPr>
          <p:cNvPr id="6" name="矩形 2"/>
          <p:cNvSpPr/>
          <p:nvPr/>
        </p:nvSpPr>
        <p:spPr>
          <a:xfrm>
            <a:off x="218983" y="857474"/>
            <a:ext cx="3461718" cy="605790"/>
          </a:xfrm>
          <a:prstGeom prst="rect">
            <a:avLst/>
          </a:prstGeom>
          <a:noFill/>
          <a:ln w="9525">
            <a:noFill/>
          </a:ln>
        </p:spPr>
        <p:txBody>
          <a:bodyPr wrap="square" lIns="87258" tIns="43629" rIns="87258" bIns="43629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63220" lvl="1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新增数据的一致性问题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矩形 2"/>
          <p:cNvSpPr/>
          <p:nvPr/>
        </p:nvSpPr>
        <p:spPr>
          <a:xfrm>
            <a:off x="218983" y="1977700"/>
            <a:ext cx="3376535" cy="2278380"/>
          </a:xfrm>
          <a:prstGeom prst="rect">
            <a:avLst/>
          </a:prstGeom>
          <a:noFill/>
          <a:ln w="9525">
            <a:noFill/>
          </a:ln>
        </p:spPr>
        <p:txBody>
          <a:bodyPr wrap="square" lIns="87258" tIns="43629" rIns="87258" bIns="43629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63220" lvl="1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</a:t>
            </a:r>
            <a:r>
              <a:rPr lang="en-US" altLang="zh-CN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删除的一致性问题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0320" lvl="1" indent="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None/>
            </a:pPr>
            <a:r>
              <a:rPr lang="en-US" altLang="zh-CN" sz="1425" strike="sngStrike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425" strike="sngStrike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、先更新缓存，再更新数据</a:t>
            </a:r>
            <a:r>
              <a:rPr lang="zh-CN" altLang="en-US" sz="1425" strike="sngStrike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库</a:t>
            </a:r>
            <a:endParaRPr lang="en-US" altLang="zh-CN" sz="1425" strike="sngStrike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0320" lvl="1" indent="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None/>
            </a:pPr>
            <a:r>
              <a:rPr lang="en-US" altLang="zh-CN" sz="1425" strike="sngStrike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425" strike="sngStrike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、先更新数据库，再更新缓</a:t>
            </a:r>
            <a:r>
              <a:rPr lang="zh-CN" altLang="en-US" sz="1425" strike="sngStrike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</a:t>
            </a:r>
            <a:endParaRPr lang="en-US" altLang="zh-CN" sz="1425" strike="sngStrike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0320" lvl="1" indent="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None/>
            </a:pPr>
            <a:r>
              <a:rPr lang="en-US" altLang="zh-CN" sz="1425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4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、先删除缓存，后更新数据</a:t>
            </a:r>
            <a:r>
              <a:rPr lang="zh-CN" altLang="en-US" sz="1425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库</a:t>
            </a:r>
            <a:endParaRPr lang="en-US" altLang="zh-CN" sz="1425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0320" lvl="1" indent="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None/>
            </a:pPr>
            <a:r>
              <a:rPr lang="en-US" altLang="zh-CN" sz="1425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4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、先更新数据库，后删除缓存</a:t>
            </a:r>
            <a:endParaRPr lang="en-US" altLang="zh-CN" sz="1425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166" y="342769"/>
            <a:ext cx="2335512" cy="2247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166" y="2811586"/>
            <a:ext cx="2491186" cy="2041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1664037" y="91133"/>
            <a:ext cx="575154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更新缓存导致的脏数据问题</a:t>
            </a:r>
            <a:endParaRPr lang="en-US" sz="1515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83" y="862747"/>
            <a:ext cx="6894102" cy="413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898986" y="4318422"/>
            <a:ext cx="644798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5" dirty="0" smtClean="0"/>
              <a:t>X=10</a:t>
            </a:r>
            <a:endParaRPr lang="zh-CN" altLang="en-US" sz="1605" dirty="0"/>
          </a:p>
        </p:txBody>
      </p:sp>
      <p:sp>
        <p:nvSpPr>
          <p:cNvPr id="9" name="TextBox 8"/>
          <p:cNvSpPr txBox="1"/>
          <p:nvPr/>
        </p:nvSpPr>
        <p:spPr>
          <a:xfrm>
            <a:off x="2898986" y="1255979"/>
            <a:ext cx="644798" cy="586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5" dirty="0"/>
              <a:t>X=3</a:t>
            </a:r>
            <a:endParaRPr lang="en-US" altLang="zh-CN" sz="1605" dirty="0"/>
          </a:p>
          <a:p>
            <a:r>
              <a:rPr lang="en-US" altLang="zh-CN" sz="1605" dirty="0" smtClean="0"/>
              <a:t>X=4</a:t>
            </a:r>
            <a:endParaRPr lang="zh-CN" altLang="en-US" sz="1605" dirty="0"/>
          </a:p>
        </p:txBody>
      </p:sp>
      <p:sp>
        <p:nvSpPr>
          <p:cNvPr id="10" name="TextBox 9"/>
          <p:cNvSpPr txBox="1"/>
          <p:nvPr/>
        </p:nvSpPr>
        <p:spPr>
          <a:xfrm>
            <a:off x="5660293" y="1252314"/>
            <a:ext cx="644798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5" dirty="0" smtClean="0"/>
              <a:t>X=3</a:t>
            </a:r>
            <a:endParaRPr lang="en-US" altLang="zh-CN" sz="1605" dirty="0"/>
          </a:p>
        </p:txBody>
      </p:sp>
      <p:sp>
        <p:nvSpPr>
          <p:cNvPr id="4" name="矩形 3"/>
          <p:cNvSpPr/>
          <p:nvPr/>
        </p:nvSpPr>
        <p:spPr>
          <a:xfrm>
            <a:off x="7322499" y="2214650"/>
            <a:ext cx="494030" cy="3384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5" dirty="0"/>
              <a:t>X=4</a:t>
            </a:r>
            <a:endParaRPr lang="zh-CN" altLang="en-US" sz="1605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1664037" y="91133"/>
            <a:ext cx="5751540" cy="67535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</a:t>
            </a:r>
            <a:r>
              <a:rPr lang="zh-CN" altLang="en-US" sz="2585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删缓存，再更新数据库</a:t>
            </a:r>
            <a:endParaRPr lang="en-US" sz="1515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84" y="1032497"/>
            <a:ext cx="3704241" cy="379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782" y="1896821"/>
            <a:ext cx="2545589" cy="128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2"/>
          <p:cNvSpPr/>
          <p:nvPr/>
        </p:nvSpPr>
        <p:spPr>
          <a:xfrm>
            <a:off x="6089448" y="1032497"/>
            <a:ext cx="2297942" cy="605790"/>
          </a:xfrm>
          <a:prstGeom prst="rect">
            <a:avLst/>
          </a:prstGeom>
          <a:noFill/>
          <a:ln w="9525">
            <a:noFill/>
          </a:ln>
        </p:spPr>
        <p:txBody>
          <a:bodyPr wrap="square" lIns="87258" tIns="43629" rIns="87258" bIns="43629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63220" lvl="1" indent="-34290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zh-CN" altLang="en-US" sz="178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延迟双删</a:t>
            </a:r>
            <a:endParaRPr lang="en-US" altLang="zh-CN" sz="178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64037" y="1540288"/>
            <a:ext cx="644798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5" dirty="0" smtClean="0"/>
              <a:t>X=3</a:t>
            </a:r>
            <a:endParaRPr lang="en-US" altLang="zh-CN" sz="1605" dirty="0"/>
          </a:p>
        </p:txBody>
      </p:sp>
      <p:sp>
        <p:nvSpPr>
          <p:cNvPr id="10" name="TextBox 9"/>
          <p:cNvSpPr txBox="1"/>
          <p:nvPr/>
        </p:nvSpPr>
        <p:spPr>
          <a:xfrm>
            <a:off x="1583808" y="2360279"/>
            <a:ext cx="644798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5" dirty="0" smtClean="0"/>
              <a:t>X=10</a:t>
            </a:r>
            <a:endParaRPr lang="en-US" altLang="zh-CN" sz="1605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commondata" val="eyJoZGlkIjoiMWQzYzE3Njg5OWQxMWVjNWY2ZWE2MTQyMjJhNGZiYz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1947</Words>
  <Application>WPS 演示</Application>
  <PresentationFormat>On-screen Show (16:9)</PresentationFormat>
  <Paragraphs>221</Paragraphs>
  <Slides>30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5" baseType="lpstr">
      <vt:lpstr>Arial</vt:lpstr>
      <vt:lpstr>宋体</vt:lpstr>
      <vt:lpstr>Wingdings</vt:lpstr>
      <vt:lpstr>Calibri</vt:lpstr>
      <vt:lpstr>思源黑体 CN Normal</vt:lpstr>
      <vt:lpstr>微软雅黑</vt:lpstr>
      <vt:lpstr>微软雅黑</vt:lpstr>
      <vt:lpstr>Open Sans</vt:lpstr>
      <vt:lpstr>Segoe Print</vt:lpstr>
      <vt:lpstr>微软雅黑 Light</vt:lpstr>
      <vt:lpstr>仿宋</vt:lpstr>
      <vt:lpstr>等线</vt:lpstr>
      <vt:lpstr>Arial Unicode MS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李瑾</cp:lastModifiedBy>
  <cp:revision>141</cp:revision>
  <dcterms:created xsi:type="dcterms:W3CDTF">2023-08-08T13:17:00Z</dcterms:created>
  <dcterms:modified xsi:type="dcterms:W3CDTF">2026-03-16T11:54:26Z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198FF5DD21754C45ACF4F28C483F7B03_12</vt:lpwstr>
  </property>
  <property fmtid="{D5CDD505-2E9C-101B-9397-08002B2CF9AE}" pid="3" name="KSOProductBuildVer">
    <vt:lpwstr>2052-12.1.0.25225</vt:lpwstr>
  </property>
</Properties>
</file>